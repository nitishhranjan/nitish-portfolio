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thesis. I am not adding an AI copilot to CRM; I am changing the primary object from seller process to buyer decision. DecisionOS builds a live, evidence-backed Decision Twin of each complex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shifts matter: buyers increasingly research independently, while enterprise buying decisions involve more stakeholders and functions. That makes routine execution easier to automate, but scarce human attention more valuable at high-trust moments.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pressure-tested the novelty. System-of-action capabilities and buyer-side signals already exist, and MEDDPICC/CopilotGTM show that buyer-decision thinking is not new. My specific product bet is a temporal, provenance-aware buyer decision state as the primary operating object, which then drives Decision Gaps, interventions and human/AI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Acme makes the abstraction failure concrete. The seller has moved to proposal, but Finance has introduced an unvalidated economic criterion. CRM stage is unchanged while the buyer decision materially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intentionally narrow the first wedge to complex enterprise B2B AEs: long cycles, high ACV and multiple stakeholders. This is a product-scoping choice, not a requirement in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Twin is structured persistent state, not an LLM summary. It tracks people, criteria, process, commitments and evidence, and keeps Verified, Reported, Inferred and Unknown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homepage is an exception queue. DecisionOS reviews many opportunities, suppresses routine work, and brings the seller only the few situations where human judgment is likely to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evidence to decision state to gap to intervention. AI prepares the mechanical work; the seller owns the relationship. After the Finance conversation we update the buyer criterion, not a fabricated deal-health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new company has no proprietary outcome dataset. V1 therefore uses connected evidence, a decision ontology, explicit rules and LLM reasoning. First reconstruct reality; then learn what changes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 system is deterministic software. AI is used for semantic interpretation and planning; permissions, state transitions, policies and audit remain deterministic. Customer-facing actions require approval in the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 in stages: shadow-mode observation first, then gap detection, recommendations, assisted execution and only later controlled autonomy. Early metrics test truthfulness and usefulness before making revenue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as an intelligence layer over existing CRM. The long-term asset is not the LLM; it is the Decision State → Intervention → Buyer Response → Outcome dataset and the organisation-specific decision ontology.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appendix: pieces exist across incumbent CRM, deal-execution products and established sales methodologies. DecisionOS differentiates by making temporal buyer decision state the operating object and explicitly closing the intervention-to-outcome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detail for technical follow-up. Preserve history and provenance so the system can always answer what changed, why it believes that, and which evidence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is risk-tiered. Observe and internal reversible work can automate; customer-facing work requires approval initially; pricing, legal and contractual commitments remain human-owned.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each layer separately: extraction, grounding, state resolution, gap detection, recommendations, tool actions and end-to-end workflow. With no real dataset, start with golden synthetic scenarios, then shadow-mode real deals.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illustrative design-partner pilot, not a production-GA promise. Roughly twelve weeks is plausible only with one CRM, one email provider and existing transcripts; broader integrations and hardening follow if the core hypotheses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external sources and integrity assumptions. The Acme scenario and all prototype data are fictional; we make no claim about win-rate lift, prediction accuracy or proprietary historical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286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4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Product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PRODUCT CASE STUDY · AI SALES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6537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Reimagine CRM around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buyer’s decision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94360" y="28620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94360" y="3355848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AI-native decision layer for complex enterprise sales.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06640" y="960120"/>
            <a:ext cx="4160520" cy="4251960"/>
          </a:xfrm>
          <a:prstGeom prst="roundRect">
            <a:avLst>
              <a:gd name="adj" fmla="val 2637"/>
            </a:avLst>
          </a:prstGeom>
          <a:solidFill>
            <a:srgbClr val="151F30"/>
          </a:solidFill>
          <a:ln w="12700">
            <a:solidFill>
              <a:srgbClr val="2632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54112" y="12984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1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54112" y="162763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process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0" y="2148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64040" y="21488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64040" y="25603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971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Activities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64040" y="2971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3383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3383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21240" y="12984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21240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decision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48672" y="2148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948672" y="2560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948672" y="2971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7E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948672" y="33832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7E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gaps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44968" y="3986784"/>
            <a:ext cx="3456432" cy="0"/>
          </a:xfrm>
          <a:prstGeom prst="line">
            <a:avLst/>
          </a:prstGeom>
          <a:noFill/>
          <a:ln w="12700">
            <a:solidFill>
              <a:srgbClr val="3442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54112" y="42245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1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did we do?”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19488" y="422452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must become true?”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5724144"/>
            <a:ext cx="10607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9D1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CRM models the seller’s process. DecisionOS models the buyer’s decision.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F8C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Nitish Ranjan · Independent product concept · Synthetic prototype scenario</a:t>
            </a:r>
            <a:endParaRPr lang="en-US" sz="800" dirty="0"/>
          </a:p>
        </p:txBody>
      </p:sp>
      <p:sp>
        <p:nvSpPr>
          <p:cNvPr id="28" name="Rounded Rectangle 27"/>
          <p:cNvSpPr/>
          <p:nvPr/>
        </p:nvSpPr>
        <p:spPr>
          <a:xfrm>
            <a:off x="594360" y="4041648"/>
            <a:ext cx="5349240" cy="420624"/>
          </a:xfrm>
          <a:prstGeom prst="roundRect">
            <a:avLst/>
          </a:prstGeom>
          <a:solidFill>
            <a:srgbClr val="162B3D"/>
          </a:solidFill>
          <a:ln>
            <a:solidFill>
              <a:srgbClr val="2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105656"/>
            <a:ext cx="5029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7FE0CF"/>
                </a:solidFill>
                <a:latin typeface="Inter"/>
              </a:rPr>
              <a:t>INITIAL WEDGE  ·  COMPLEX ENTERPRISE B2B NEW-LOGO 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407408"/>
            <a:ext cx="3840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B9C5D3"/>
                </a:solidFill>
                <a:latin typeface="Inter"/>
              </a:rPr>
              <a:t>Qualified opportunity → commercial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buyer is more autonomous — and the decision more complex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makes human seller attention less frequent, but more consequential.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2128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a rep-free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buying experience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2029968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2128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590288" y="28346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validating AI-generated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with a salesperson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029968"/>
            <a:ext cx="34290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22128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+ 9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339328" y="28346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buying decision: 13 internal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+ 9 external influencers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822192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F0F3F7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SELF-SERVICE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4361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research shifts to digital +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4727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Sellers are no longer the primary information source at every step.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3822192"/>
            <a:ext cx="5166360" cy="1325880"/>
          </a:xfrm>
          <a:prstGeom prst="roundRect">
            <a:avLst>
              <a:gd name="adj" fmla="val 8276"/>
            </a:avLst>
          </a:prstGeom>
          <a:solidFill>
            <a:srgbClr val="F0F3F7"/>
          </a:solidFill>
          <a:ln w="12700">
            <a:solidFill>
              <a:srgbClr val="E4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COMPLEXITY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4361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· Security · Procurement ·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18504" y="47274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stakeholders carry different risks, incentives and veto power.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828800" y="5596128"/>
            <a:ext cx="8503920" cy="566928"/>
          </a:xfrm>
          <a:prstGeom prst="roundRect">
            <a:avLst>
              <a:gd name="adj" fmla="val 19355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5733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makes sales execution cheaper. Human attention becomes more valuable.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428232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720" b="0">
                <a:solidFill>
                  <a:srgbClr val="8A93A2"/>
                </a:solidFill>
                <a:latin typeface="Inter"/>
              </a:rPr>
              <a:t>Sources: Gartner surveys of ~645 B2B buyers (Aug–Sep 2025; published Mar 9 &amp; May 20, 2026); Forrester, State of Business Buying 2026.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REALITY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intelligence is emerging. What becomes the primary object?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Buyer-side signals, stakeholder gaps and next actions already exist. Our bet is to make decision state the primary object — not another signal feeding an opportunity.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182112" cy="3273552"/>
          </a:xfrm>
          <a:prstGeom prst="roundRect">
            <a:avLst>
              <a:gd name="adj" fmla="val 3448"/>
            </a:avLst>
          </a:prstGeom>
          <a:solidFill>
            <a:srgbClr val="F0F3F7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40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YESTERDAY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77824" y="25603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of record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6112" y="3227832"/>
            <a:ext cx="365760" cy="365760"/>
          </a:xfrm>
          <a:prstGeom prst="ellipse">
            <a:avLst/>
          </a:prstGeom>
          <a:solidFill>
            <a:srgbClr val="657085"/>
          </a:solidFill>
          <a:ln w="12700">
            <a:solidFill>
              <a:srgbClr val="6570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2324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2369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contacts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3675888"/>
            <a:ext cx="365760" cy="365760"/>
          </a:xfrm>
          <a:prstGeom prst="ellipse">
            <a:avLst/>
          </a:prstGeom>
          <a:solidFill>
            <a:srgbClr val="657085"/>
          </a:solidFill>
          <a:ln w="12700">
            <a:solidFill>
              <a:srgbClr val="657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6804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3685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opportunity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" y="4123944"/>
            <a:ext cx="365760" cy="365760"/>
          </a:xfrm>
          <a:prstGeom prst="ellipse">
            <a:avLst/>
          </a:prstGeom>
          <a:solidFill>
            <a:srgbClr val="657085"/>
          </a:solidFill>
          <a:ln w="12700">
            <a:solidFill>
              <a:srgbClr val="657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1285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133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activity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" y="4572000"/>
            <a:ext cx="365760" cy="365760"/>
          </a:xfrm>
          <a:prstGeom prst="ellipse">
            <a:avLst/>
          </a:prstGeom>
          <a:solidFill>
            <a:srgbClr val="657085"/>
          </a:solidFill>
          <a:ln w="12700">
            <a:solidFill>
              <a:srgbClr val="657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5765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45811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forecast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1965960"/>
            <a:ext cx="3182112" cy="3273552"/>
          </a:xfrm>
          <a:prstGeom prst="roundRect">
            <a:avLst>
              <a:gd name="adj" fmla="val 3448"/>
            </a:avLst>
          </a:prstGeom>
          <a:solidFill>
            <a:srgbClr val="EEF6F4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9976" y="2240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79976" y="25603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of action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398264" y="3227832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8264" y="32324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2369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&amp; research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98264" y="3675888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36804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685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actions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98264" y="4123944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41285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4133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CRM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98264" y="4572000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45765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45811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sales agents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62672" y="1965960"/>
            <a:ext cx="3182112" cy="3273552"/>
          </a:xfrm>
          <a:prstGeom prst="roundRect">
            <a:avLst>
              <a:gd name="adj" fmla="val 3448"/>
            </a:avLst>
          </a:prstGeom>
          <a:solidFill>
            <a:srgbClr val="FFF6E8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82128" y="2240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82128" y="25603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state as primary object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900416" y="3227832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0416" y="32324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75904" y="32369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become true?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00416" y="3675888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0416" y="36804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75904" y="3685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+ uncertainty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00416" y="4123944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0416" y="41285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75904" y="41330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→ intervention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900416" y="4572000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0416" y="45765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75904" y="45811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/ AI allocation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" y="5513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89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scan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6596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2996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9184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5584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0760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6948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3348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Salesloft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59536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5936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MEDDPICC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921240" y="5449824"/>
            <a:ext cx="1124712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85248" y="54681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CopilotGTM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5800" y="59893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not claiming buyer-decision thinking is new. The differentiation is a temporal, evidence-backed decision state as the operating object.</a:t>
            </a:r>
            <a:endParaRPr lang="en-US" sz="1320" dirty="0"/>
          </a:p>
        </p:txBody>
      </p:sp>
      <p:sp>
        <p:nvSpPr>
          <p:cNvPr id="66" name="Text 64"/>
          <p:cNvSpPr/>
          <p:nvPr/>
        </p:nvSpPr>
        <p:spPr>
          <a:xfrm>
            <a:off x="548640" y="6428232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8A93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Microsoft Dynamics 365 Sales (2026); CopilotGTM (2026); MEDDPICC; Salesforce, HubSpot, Gong and Salesloft product research.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BROKEN ABSTRACTION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stage ≠ buyer progress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seller can move the opportunity forward while the buying group remains unresolved.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5148072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1284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CRM SEES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$240K ARR · Proposal · Nov 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3401568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4061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34107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engaged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3840480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8450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849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demo complete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" y="4279392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2839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2885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started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2688" y="4718304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7228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4727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sent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230368"/>
            <a:ext cx="1325880" cy="274320"/>
          </a:xfrm>
          <a:prstGeom prst="roundRect">
            <a:avLst>
              <a:gd name="adj" fmla="val 4666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5248656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Looks healthy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53328" y="1938528"/>
            <a:ext cx="5458968" cy="3593592"/>
          </a:xfrm>
          <a:prstGeom prst="roundRect">
            <a:avLst>
              <a:gd name="adj" fmla="val 3053"/>
            </a:avLst>
          </a:prstGeom>
          <a:solidFill>
            <a:srgbClr val="FFFDFC"/>
          </a:solidFill>
          <a:ln w="12700">
            <a:solidFill>
              <a:srgbClr val="F1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212848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ACTUALLY CHANGED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578608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“Finance wants to understand whether the implementation effort is justified. They will probably want payback inside 12 months.”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336792" y="3593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· Champion · Oct 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40416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4041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6355080" y="42702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26680" y="42702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355080" y="44988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26680" y="44988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355080" y="47274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26680" y="47274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UNRESOLVED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355080" y="4956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26680" y="49560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7F87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6355080" y="51846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26680" y="51846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INCOMPLETE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1828800" y="5806440"/>
            <a:ext cx="8503920" cy="502920"/>
          </a:xfrm>
          <a:prstGeom prst="roundRect">
            <a:avLst>
              <a:gd name="adj" fmla="val 21818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8256" y="5925312"/>
            <a:ext cx="8092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 progressed to proposal. The buyer’s economic decision did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00" b="1">
                <a:solidFill>
                  <a:srgbClr val="167C6B"/>
                </a:solidFill>
                <a:latin typeface="Inter"/>
              </a:rPr>
              <a:t>SCOPE + ICP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750" b="1">
                <a:solidFill>
                  <a:srgbClr val="172033"/>
                </a:solidFill>
                <a:latin typeface="Inter"/>
              </a:rPr>
              <a:t>Scope: complex enterprise B2B new-logo sales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320" b="0">
                <a:solidFill>
                  <a:srgbClr val="657085"/>
                </a:solidFill>
                <a:latin typeface="Inter"/>
              </a:rPr>
              <a:t>Qualified opportunity → commercial decision. Narrow wedge first; CRM replacement is explicitly out of scope.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3657600" cy="3429000"/>
          </a:xfrm>
          <a:prstGeom prst="roundRect">
            <a:avLst>
              <a:gd name="adj" fmla="val 3200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3134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USER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2688" y="267004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Account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$50K+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968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87168" y="36576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60+ days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87168" y="3968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cycle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2688" y="43616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5+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4672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43616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1D6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8–25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487168" y="4672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5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deals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90288" y="2011680"/>
            <a:ext cx="690372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TO BE DONE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64608" y="2633472"/>
            <a:ext cx="6236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“When I manage multiple complex opportunities, tell me what is actually preventing each buying group from reaching a decision — and where my involvement can materially change the outcome.”</a:t>
            </a:r>
            <a:endParaRPr lang="en-US" sz="1620" dirty="0"/>
          </a:p>
        </p:txBody>
      </p:sp>
      <p:sp>
        <p:nvSpPr>
          <p:cNvPr id="19" name="Shape 17"/>
          <p:cNvSpPr/>
          <p:nvPr/>
        </p:nvSpPr>
        <p:spPr>
          <a:xfrm>
            <a:off x="4590288" y="3831336"/>
            <a:ext cx="3246120" cy="1609344"/>
          </a:xfrm>
          <a:prstGeom prst="roundRect">
            <a:avLst>
              <a:gd name="adj" fmla="val 6818"/>
            </a:avLst>
          </a:prstGeom>
          <a:solidFill>
            <a:srgbClr val="EFF2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USER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846320" y="44165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Front-line Sales Manager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48188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 intervention visibility, not another dashboard.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65008" y="3831336"/>
            <a:ext cx="3429000" cy="1609344"/>
          </a:xfrm>
          <a:prstGeom prst="roundRect">
            <a:avLst>
              <a:gd name="adj" fmla="val 6818"/>
            </a:avLst>
          </a:prstGeom>
          <a:solidFill>
            <a:srgbClr val="EFF2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096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BUYER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321040" y="44165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 / VP Sales / RevOps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21040" y="481888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Buys better revenue execution and seller capacity.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685800" y="5715000"/>
            <a:ext cx="5349240" cy="640080"/>
          </a:xfrm>
          <a:prstGeom prst="roundRect">
            <a:avLst/>
          </a:prstGeom>
          <a:solidFill>
            <a:srgbClr val="E9F6F3"/>
          </a:solidFill>
          <a:ln>
            <a:solidFill>
              <a:srgbClr val="C9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797296"/>
            <a:ext cx="868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40" b="1">
                <a:solidFill>
                  <a:srgbClr val="167C6B"/>
                </a:solidFill>
                <a:latin typeface="Inter"/>
              </a:rPr>
              <a:t>IN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0784" y="5769864"/>
            <a:ext cx="4069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172033"/>
                </a:solidFill>
                <a:latin typeface="Inter"/>
              </a:rPr>
              <a:t>New-logo opportunity · 5+ stakeholders · Finance / Security / IT / Procurement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5715000"/>
            <a:ext cx="5166360" cy="640080"/>
          </a:xfrm>
          <a:prstGeom prst="roundRect">
            <a:avLst/>
          </a:prstGeom>
          <a:solidFill>
            <a:srgbClr val="F5F6F8"/>
          </a:solidFill>
          <a:ln>
            <a:solidFill>
              <a:srgbClr val="DF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797296"/>
            <a:ext cx="10515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40" b="1">
                <a:solidFill>
                  <a:srgbClr val="6E7785"/>
                </a:solidFill>
                <a:latin typeface="Inter"/>
              </a:rPr>
              <a:t>OUT OF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769864"/>
            <a:ext cx="3703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4F5968"/>
                </a:solidFill>
                <a:latin typeface="Inter"/>
              </a:rPr>
              <a:t>B2C · transactional SMB · AI SDR / lead gen · renewals / support · CRM replacement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46520"/>
            <a:ext cx="8869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7E899A"/>
                </a:solidFill>
                <a:latin typeface="Inter"/>
              </a:defRPr>
            </a:pPr>
            <a:r>
              <a:t>ICP thresholds are an initial hypothesis to validate with design partners, not proven market cutoffs.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PRODUCT PRIMITIVE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 Twin: a live model of what the buyer needs to decide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structured state — not an ephemeral LLM summary.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709160" y="2359152"/>
            <a:ext cx="2743200" cy="1325880"/>
          </a:xfrm>
          <a:prstGeom prst="ellipse">
            <a:avLst/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9160" y="254203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F0F3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matters?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F0F3F7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4069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STANCES / CONCERNS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have they expressed?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58200" y="1828800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EEF6F4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22792" y="2258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be true?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58200" y="3886200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EEF6F4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40690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22792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approvals?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80360" y="4736592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FFF6E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4919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44952" y="5166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agreed?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4736592"/>
            <a:ext cx="2468880" cy="896112"/>
          </a:xfrm>
          <a:prstGeom prst="roundRect">
            <a:avLst>
              <a:gd name="adj" fmla="val 12245"/>
            </a:avLst>
          </a:prstGeom>
          <a:solidFill>
            <a:srgbClr val="FFF6E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4919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8272" y="5166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we know?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9344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130552" y="5916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14600" y="59344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gap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3886200" y="5916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70248" y="593445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559552" y="5916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97880" y="59344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/ AI action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7589520" y="5916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55280" y="5934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response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436608" y="5916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784080" y="593445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Updated state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776472" y="1709928"/>
            <a:ext cx="960120" cy="274320"/>
          </a:xfrm>
          <a:prstGeom prst="roundRect">
            <a:avLst>
              <a:gd name="adj" fmla="val 4666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1728216"/>
            <a:ext cx="832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8032" y="1709928"/>
            <a:ext cx="987552" cy="274320"/>
          </a:xfrm>
          <a:prstGeom prst="roundRect">
            <a:avLst>
              <a:gd name="adj" fmla="val 4666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7282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16168" y="1709928"/>
            <a:ext cx="987552" cy="274320"/>
          </a:xfrm>
          <a:prstGeom prst="roundRect">
            <a:avLst>
              <a:gd name="adj" fmla="val 46667"/>
            </a:avLst>
          </a:prstGeom>
          <a:solidFill>
            <a:srgbClr val="F2EEFB"/>
          </a:solidFill>
          <a:ln w="12700">
            <a:solidFill>
              <a:srgbClr val="F2EE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0176" y="17282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INFERRED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04304" y="1709928"/>
            <a:ext cx="987552" cy="274320"/>
          </a:xfrm>
          <a:prstGeom prst="roundRect">
            <a:avLst>
              <a:gd name="adj" fmla="val 46667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68312" y="172821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give sellers more tasks. Give them fewer, higher-leverage decisions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Homepage = exception queue for moments where human judgment matters.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7772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641080" y="1993392"/>
            <a:ext cx="2926080" cy="4160520"/>
          </a:xfrm>
          <a:prstGeom prst="roundRect">
            <a:avLst>
              <a:gd name="adj" fmla="val 3750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897112" y="2304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UX PROVES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97112" y="2788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deals → 4 human moments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897112" y="3054096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need no human action now; AI monitors and prepares instead of creating more alerts.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97112" y="35295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50" b="1">
                <a:solidFill>
                  <a:srgbClr val="FFFFFF"/>
                </a:solidFill>
                <a:latin typeface="Inter"/>
              </a:rPr>
              <a:t>Two decision-gap types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897112" y="3794760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19" b="0">
                <a:solidFill>
                  <a:srgbClr val="B9C4D2"/>
                </a:solidFill>
                <a:latin typeface="Inter"/>
              </a:rPr>
              <a:t>Acme = Finance validation. Northstar = stalled Security approval.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897112" y="4270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150" b="1">
                <a:solidFill>
                  <a:srgbClr val="FFFFFF"/>
                </a:solidFill>
                <a:latin typeface="Inter"/>
              </a:rPr>
              <a:t>AI works before asking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8897112" y="453542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919" b="0">
                <a:solidFill>
                  <a:srgbClr val="B9C4D2"/>
                </a:solidFill>
                <a:latin typeface="Inter"/>
              </a:rPr>
              <a:t>Brief, ROI worksheet and intro draft are already prepared.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97112" y="50109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is secondary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8897112" y="5276088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8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seller should not need to know what question to ask.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6428232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720" b="0">
                <a:solidFill>
                  <a:srgbClr val="8A93A2"/>
                </a:solidFill>
                <a:latin typeface="Inter"/>
              </a:rPr>
              <a:t>Prototype: fictional Acme (Finance) + Northstar (Security) flows. No performance claims or real customer data.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decisionos_attention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084832"/>
            <a:ext cx="7589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→ intervention → buyer state change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tracks whether the decision moved — not whether the seller completed a task.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UNDERSTAND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3246120" cy="3456432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pic>
        <p:nvPicPr>
          <p:cNvPr id="7" name="Image 0" descr="/mnt/data/decisionos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23848"/>
            <a:ext cx="3099816" cy="21978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87368" y="18745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VERIFY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087368" y="2194560"/>
            <a:ext cx="3246120" cy="3456432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pic>
        <p:nvPicPr>
          <p:cNvPr id="10" name="Image 1" descr="/mnt/data/decisionos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823848"/>
            <a:ext cx="3099816" cy="21978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7808" y="18745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ACT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607808" y="2194560"/>
            <a:ext cx="3246120" cy="3456432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CE2E9"/>
            </a:solidFill>
            <a:prstDash val="solid"/>
          </a:ln>
        </p:spPr>
      </p:sp>
      <p:pic>
        <p:nvPicPr>
          <p:cNvPr id="13" name="Image 2" descr="/mnt/data/decisionos_intervention_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398700"/>
            <a:ext cx="3099816" cy="30481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" y="58155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Twin identifies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validation gap</a:t>
            </a:r>
            <a:endParaRPr lang="en-US" sz="1130" dirty="0"/>
          </a:p>
        </p:txBody>
      </p:sp>
      <p:sp>
        <p:nvSpPr>
          <p:cNvPr id="15" name="Text 10"/>
          <p:cNvSpPr/>
          <p:nvPr/>
        </p:nvSpPr>
        <p:spPr>
          <a:xfrm>
            <a:off x="4178808" y="58155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Facts, reports, inferences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unknowns stay distinct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7699248" y="581558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prepares; seller owns</a:t>
            </a:r>
            <a:endParaRPr lang="en-US" sz="1130" dirty="0"/>
          </a:p>
          <a:p>
            <a:pPr algn="ctr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+ judgment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66928" y="6345936"/>
            <a:ext cx="1060704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00" b="0">
                <a:solidFill>
                  <a:srgbClr val="7D8796"/>
                </a:solidFill>
                <a:latin typeface="Inter"/>
              </a:rPr>
              <a:t>Second full prototype path: Northstar Bank · missed Security commitment → blocker discovery → explicit approval criterion.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COLD-START MVP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Valuable before it learns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proprietary historical outcome data is required for version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" y="2011680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0162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25880" y="1938528"/>
            <a:ext cx="4754880" cy="585216"/>
          </a:xfrm>
          <a:prstGeom prst="roundRect">
            <a:avLst>
              <a:gd name="adj" fmla="val 1875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2048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306324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· email · calendar · meeting transcripts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86384" y="2761488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7660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25880" y="2688336"/>
            <a:ext cx="4754880" cy="585216"/>
          </a:xfrm>
          <a:prstGeom prst="roundRect">
            <a:avLst>
              <a:gd name="adj" fmla="val 18750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27980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ONTOLOGY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063240" y="2779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· criteria · approvals · commitments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86384" y="3511296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5158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25880" y="3438144"/>
            <a:ext cx="4754880" cy="585216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35478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RULES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063240" y="3529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gap logic for common enterprise decisions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86384" y="4261104"/>
            <a:ext cx="365760" cy="36576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2656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25880" y="4187952"/>
            <a:ext cx="4754880" cy="585216"/>
          </a:xfrm>
          <a:prstGeom prst="roundRect">
            <a:avLst>
              <a:gd name="adj" fmla="val 18750"/>
            </a:avLst>
          </a:prstGeom>
          <a:solidFill>
            <a:srgbClr val="F2EEFB"/>
          </a:solidFill>
          <a:ln w="12700">
            <a:solidFill>
              <a:srgbClr val="F2EE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72768" y="429768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REASONING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063240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ambiguity · propose interventions · abstain when unknown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446520" y="1938528"/>
            <a:ext cx="2331720" cy="3246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221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NOW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26060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5968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overlay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29352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29260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32644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32552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detection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3593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584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+ confidence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20840" y="39227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39136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 recs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20840" y="42519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4242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preparation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458114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45720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840" y="1938528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DFC"/>
          </a:solidFill>
          <a:ln w="12700">
            <a:solidFill>
              <a:srgbClr val="F0E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62872" y="22219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281160" y="26243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0" y="2596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win score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9281160" y="29900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601200" y="29626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negotiation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9281160" y="33558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0" y="33284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CRM replacement</a:t>
            </a:r>
            <a:endParaRPr lang="en-US" sz="1030" dirty="0"/>
          </a:p>
        </p:txBody>
      </p:sp>
      <p:sp>
        <p:nvSpPr>
          <p:cNvPr id="49" name="Text 47"/>
          <p:cNvSpPr/>
          <p:nvPr/>
        </p:nvSpPr>
        <p:spPr>
          <a:xfrm>
            <a:off x="9281160" y="37216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0" y="36941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SDR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9281160" y="40873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01200" y="40599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Self-learning optimization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9281160" y="44531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01200" y="4425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 impact claims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1828800" y="5605272"/>
            <a:ext cx="8503920" cy="585216"/>
          </a:xfrm>
          <a:prstGeom prst="roundRect">
            <a:avLst>
              <a:gd name="adj" fmla="val 18750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575157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reconstruct reality. Then learn what changes outcomes.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Probabilistic intelligence, deterministic control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AI where interpretation adds value; use software where correctness matters.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202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INPUTS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2331720" y="190195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/ HubSpot · Email · Calendar · Transcripts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49040" y="22585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414016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F0F3F7"/>
          </a:solidFill>
          <a:ln w="12700">
            <a:solidFill>
              <a:srgbClr val="F0F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LAYER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331720" y="2505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events · raw-source pointers · tenant permissions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2862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3017520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1272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EXTRACTION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2331720" y="31089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· criteria · commitments · concerns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0" y="346557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3621024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7307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TWIN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2331720" y="37124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state + temporal history + provenance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40690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224528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3425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ENGINE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2331720" y="43159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first · LLM-assisted interpretation where needed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467258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828032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F2EEFB"/>
          </a:solidFill>
          <a:ln w="12700">
            <a:solidFill>
              <a:srgbClr val="F2EE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9377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 PLANNER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2331720" y="491947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actions grounded in evidence + playbook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0" y="5276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" y="5431536"/>
            <a:ext cx="6629400" cy="475488"/>
          </a:xfrm>
          <a:prstGeom prst="roundRect">
            <a:avLst>
              <a:gd name="adj" fmla="val 2307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5412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+ ACTION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2331720" y="552297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Permissions · risk tier · human approval · audit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26680" y="1810512"/>
            <a:ext cx="3730752" cy="4297680"/>
          </a:xfrm>
          <a:prstGeom prst="roundRect">
            <a:avLst>
              <a:gd name="adj" fmla="val 2941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2103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28432" y="25420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02843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F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factual claim points to source evidence.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028432" y="3154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Abstention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28432" y="34015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F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beats a plausible hallucination.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028432" y="3767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Risk-tiered autonomy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028432" y="401421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F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Internal/reversible work can automate; external action requires approval initially.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8028432" y="43799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Untrusted content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28432" y="462686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F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Emails and transcripts are data — never instructions.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028432" y="49926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Auditability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028432" y="5239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AFB9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 → infer → recommend → act → outcome.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49808" y="6153912"/>
            <a:ext cx="1325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principle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76272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where correctness matters · Probabilistic where interpretation helps · Human-controlled where consequences are high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trust before autonomy — and behavior before revenue claims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in shadow mode; earn the right to automate.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34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sources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Decision Twin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051560" y="2322576"/>
            <a:ext cx="1783080" cy="0"/>
          </a:xfrm>
          <a:prstGeom prst="line">
            <a:avLst/>
          </a:prstGeom>
          <a:noFill/>
          <a:ln w="19050">
            <a:solidFill>
              <a:srgbClr val="CCD3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98648" y="2148840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1534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288036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detection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UI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291840" y="2322576"/>
            <a:ext cx="1783080" cy="0"/>
          </a:xfrm>
          <a:prstGeom prst="line">
            <a:avLst/>
          </a:prstGeom>
          <a:noFill/>
          <a:ln w="19050">
            <a:solidFill>
              <a:srgbClr val="CCD3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8928" y="2148840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21534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12064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Queue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532120" y="2322576"/>
            <a:ext cx="1783080" cy="0"/>
          </a:xfrm>
          <a:prstGeom prst="line">
            <a:avLst/>
          </a:prstGeom>
          <a:noFill/>
          <a:ln w="19050">
            <a:solidFill>
              <a:srgbClr val="CCD3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9208" y="2148840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21534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736092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Briefs · drafts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updates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7772400" y="2322576"/>
            <a:ext cx="1783080" cy="0"/>
          </a:xfrm>
          <a:prstGeom prst="line">
            <a:avLst/>
          </a:prstGeom>
          <a:noFill/>
          <a:ln w="19050">
            <a:solidFill>
              <a:srgbClr val="CCD3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19488" y="2148840"/>
            <a:ext cx="365760" cy="365760"/>
          </a:xfrm>
          <a:prstGeom prst="ellipse">
            <a:avLst/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9488" y="21534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F17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AUTONOMY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960120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Low-risk actions only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thresholds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58368" y="3657600"/>
            <a:ext cx="10817352" cy="0"/>
          </a:xfrm>
          <a:prstGeom prst="line">
            <a:avLst/>
          </a:prstGeom>
          <a:noFill/>
          <a:ln w="12700">
            <a:solidFill>
              <a:srgbClr val="E0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913632"/>
            <a:ext cx="342900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THE AI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914400" y="44897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Extraction precision / recall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914400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Evidence-grounding rate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14400" y="50200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Correct abstention / conflicts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914400" y="5285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Tool + policy compliance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4343400" y="3913632"/>
            <a:ext cx="342900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9432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THE PRODUCT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4599432" y="448970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Decision Twin correction rate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99432" y="4754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Gap usefulness / dismissal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599432" y="50200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Recommendation accept / modify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99432" y="5285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Gap-resolution time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028432" y="3913632"/>
            <a:ext cx="3474720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84464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8284464" y="4462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 Product Manager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284464" y="4690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 AI/ML Engineer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284464" y="49194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 Backend/Platform Engineer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284464" y="5148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 Full-stack Engineer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284464" y="5376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 Product Designer + design partner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4400" y="5998464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Synthetic scenarios test system behavior. Real design-partner pilots test business value.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+ LONG-TERM ADVANTAGE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as an intelligence layer. Become the system that learns how customers decide.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measurable revenue execution — not model tokens.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3310128" cy="342900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94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WEDGE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5968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intelligence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existing CRM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buyer: CRO / VP Sales / RevOps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Model: enterprise platform fee + seller seats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37083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forced Salesforce migration.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87952" y="1956816"/>
            <a:ext cx="3703320" cy="3429000"/>
          </a:xfrm>
          <a:prstGeom prst="roundRect">
            <a:avLst>
              <a:gd name="adj" fmla="val 3200"/>
            </a:avLst>
          </a:prstGeom>
          <a:solidFill>
            <a:srgbClr val="F1F8F6"/>
          </a:solidFill>
          <a:ln w="12700">
            <a:solidFill>
              <a:srgbClr val="D9E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LOOP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27614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State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5559552" y="3054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6592" y="33375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559552" y="36301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39136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Response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559552" y="42062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448970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Updated State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5559552" y="47823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50657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Outcome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8110728" y="1956816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85048" y="2697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26883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ontology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85048" y="31455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32520" y="31363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histories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85048" y="35935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35844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corrections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85048" y="40416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D3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2520" y="403250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 → outcome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85048" y="4690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D8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moat is not the LLM.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05840" y="5669280"/>
            <a:ext cx="10149840" cy="566928"/>
          </a:xfrm>
          <a:prstGeom prst="roundRect">
            <a:avLst>
              <a:gd name="adj" fmla="val 19355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580644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learned to record what sellers did. AI CRM learned to help sellers act. The next CRM should understand how customers decide.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3291840" y="6355080"/>
            <a:ext cx="5577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DecisionOS · Automate work. Escalate judgment.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pressure test: pieces already exist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claim is not “nobody tracks buyers.” The bet is how the product is organized, governed and learns over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56232"/>
            <a:ext cx="1508760" cy="402336"/>
          </a:xfrm>
          <a:prstGeom prst="roundRect">
            <a:avLst>
              <a:gd name="adj" fmla="val 27273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47672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304288" y="1856232"/>
            <a:ext cx="4736592" cy="402336"/>
          </a:xfrm>
          <a:prstGeom prst="roundRect">
            <a:avLst>
              <a:gd name="adj" fmla="val 27273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4016" y="1947672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EXISTS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205472" y="1856232"/>
            <a:ext cx="4343400" cy="402336"/>
          </a:xfrm>
          <a:prstGeom prst="roundRect">
            <a:avLst>
              <a:gd name="adj" fmla="val 27273"/>
            </a:avLst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94767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OPERATING MODEL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591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304288" y="2286000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23591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Prospecting, engagement, meeting prep, pipeline updates, quoting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205472" y="2286000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35915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+ CRM context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2816352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895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Dynamics 365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304288" y="2816352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4016" y="2889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of action, autonomous agents, Next Best Action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205472" y="2816352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88950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Cross-agent action prioritization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0080" y="3346704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4198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304288" y="3346704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341985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Self-updating CRM, Growth Context, agents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205472" y="3346704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3419856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context + outcomes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0080" y="3877056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95020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Gong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2304288" y="3877056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14016" y="3950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graph, custom agents, governance, conversation intelligence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205472" y="3877056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95020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context + execution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0080" y="4407408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48056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CopilotGTM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2304288" y="4407408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14016" y="44805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progress, stakeholder gaps, qualification gaps, risks, next actions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205472" y="4407408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448056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Deal execution / buyer progress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40080" y="493776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50109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MEDDPICC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304288" y="4937760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14016" y="50109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 buyer, decision criteria/process, champion, paper process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7205472" y="4937760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F3F5F8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5010912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 methodology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40080" y="5468112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E8F7F3"/>
          </a:solidFill>
          <a:ln w="12700">
            <a:solidFill>
              <a:srgbClr val="B8DF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5412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DecisionOS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2304288" y="5468112"/>
            <a:ext cx="4736592" cy="502920"/>
          </a:xfrm>
          <a:prstGeom prst="roundRect">
            <a:avLst>
              <a:gd name="adj" fmla="val 21818"/>
            </a:avLst>
          </a:prstGeom>
          <a:solidFill>
            <a:srgbClr val="E8F7F3"/>
          </a:solidFill>
          <a:ln w="12700">
            <a:solidFill>
              <a:srgbClr val="B8DF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554126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Decision Twin → evidence → gap → intervention → human/AI action → outcome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7205472" y="5468112"/>
            <a:ext cx="4343400" cy="502920"/>
          </a:xfrm>
          <a:prstGeom prst="roundRect">
            <a:avLst>
              <a:gd name="adj" fmla="val 21818"/>
            </a:avLst>
          </a:prstGeom>
          <a:solidFill>
            <a:srgbClr val="E8F7F3"/>
          </a:solidFill>
          <a:ln w="12700">
            <a:solidFill>
              <a:srgbClr val="B8DF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554126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decision state + learning loop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548640" y="6428232"/>
            <a:ext cx="10881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8A93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Salesforce, Microsoft, HubSpot, Gong, CopilotGTM and MEDDPICC product/methodology pages reviewed Oct 2026.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Twin schema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temporal and provenance-aware.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1947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metadata; seller-owned record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31520" y="2532888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31720" y="2606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Person, role, influence, relationship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31520" y="3191256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3009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Expressed stance / concern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32644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Source-linked support, concern or uncertainty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31520" y="3849624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59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criterion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 the buyer needs satisfied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31520" y="4507992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617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Approval requirement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4581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Finance, Legal, Procurement…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5F7FA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5276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31720" y="5239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promised what, by when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217920" y="1874520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1F8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9842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18120" y="1947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Canonical source pointer + excerpt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6217920" y="2532888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1F8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642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18120" y="2606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interpretation + confidence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217920" y="3191256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1F8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3009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gap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18120" y="32644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vs required state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217920" y="3849624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1F8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39593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18120" y="3922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change to resolve a gap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217920" y="4507992"/>
            <a:ext cx="5074920" cy="521208"/>
          </a:xfrm>
          <a:prstGeom prst="roundRect">
            <a:avLst>
              <a:gd name="adj" fmla="val 21053"/>
            </a:avLst>
          </a:prstGeom>
          <a:solidFill>
            <a:srgbClr val="F1F8F6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617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18120" y="4581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 response / state transition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749808" y="6016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rule: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37360" y="598017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overwrite the old decision state. Store the transition so “what changed?” remains answerable.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Risk-tiered autonomy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Autonomy is a policy decision, not a model personality.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8096" y="1901952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065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07592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Read, extract, summarize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732520" y="1865376"/>
            <a:ext cx="2148840" cy="274320"/>
          </a:xfrm>
          <a:prstGeom prst="roundRect">
            <a:avLst>
              <a:gd name="adj" fmla="val 4666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96528" y="1883664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2688336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6929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07592" y="26609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+ REVERSIBLE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246120" y="26609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Decision Twin, prepare briefs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732520" y="2651760"/>
            <a:ext cx="2148840" cy="274320"/>
          </a:xfrm>
          <a:prstGeom prst="roundRect">
            <a:avLst>
              <a:gd name="adj" fmla="val 46667"/>
            </a:avLst>
          </a:prstGeom>
          <a:solidFill>
            <a:srgbClr val="E8F7F3"/>
          </a:solidFill>
          <a:ln w="12700">
            <a:solidFill>
              <a:srgbClr val="E8F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96528" y="267004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8096" y="3474720"/>
            <a:ext cx="365760" cy="365760"/>
          </a:xfrm>
          <a:prstGeom prst="ellipse">
            <a:avLst/>
          </a:prstGeom>
          <a:solidFill>
            <a:srgbClr val="A86500"/>
          </a:solidFill>
          <a:ln w="12700">
            <a:solidFill>
              <a:srgbClr val="A86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4792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07592" y="3447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WRITES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246120" y="34472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notes, tasks, reminders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732520" y="3438144"/>
            <a:ext cx="2148840" cy="274320"/>
          </a:xfrm>
          <a:prstGeom prst="roundRect">
            <a:avLst>
              <a:gd name="adj" fmla="val 46667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345643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8096" y="4261104"/>
            <a:ext cx="365760" cy="365760"/>
          </a:xfrm>
          <a:prstGeom prst="ellipse">
            <a:avLst/>
          </a:prstGeom>
          <a:solidFill>
            <a:srgbClr val="6750A4"/>
          </a:solidFill>
          <a:ln w="12700">
            <a:solidFill>
              <a:srgbClr val="6750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42656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07592" y="42336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CUSTOMER-FACING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3246120" y="42336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meeting scheduling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732520" y="4224528"/>
            <a:ext cx="2148840" cy="274320"/>
          </a:xfrm>
          <a:prstGeom prst="roundRect">
            <a:avLst>
              <a:gd name="adj" fmla="val 46667"/>
            </a:avLst>
          </a:prstGeom>
          <a:solidFill>
            <a:srgbClr val="F2EEFB"/>
          </a:solidFill>
          <a:ln w="12700">
            <a:solidFill>
              <a:srgbClr val="F2EE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96528" y="4242816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50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approval in MVP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" y="5047488"/>
            <a:ext cx="365760" cy="365760"/>
          </a:xfrm>
          <a:prstGeom prst="ellipse">
            <a:avLst/>
          </a:prstGeom>
          <a:solidFill>
            <a:srgbClr val="A23A3A"/>
          </a:solidFill>
          <a:ln w="12700">
            <a:solidFill>
              <a:srgbClr val="A2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0520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07592" y="50200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CONSEQUENCE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3246120" y="502005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Pricing, contract, negotiation, legal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732520" y="5010912"/>
            <a:ext cx="2148840" cy="274320"/>
          </a:xfrm>
          <a:prstGeom prst="roundRect">
            <a:avLst>
              <a:gd name="adj" fmla="val 4666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6528" y="5029200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Human-owned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" y="6025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</a:t>
            </a:r>
            <a:endParaRPr lang="en-US" sz="930" dirty="0"/>
          </a:p>
        </p:txBody>
      </p:sp>
      <p:sp>
        <p:nvSpPr>
          <p:cNvPr id="36" name="Text 34"/>
          <p:cNvSpPr/>
          <p:nvPr/>
        </p:nvSpPr>
        <p:spPr>
          <a:xfrm>
            <a:off x="1481328" y="59618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can draft the Finance introduction. Maya must approve the customer-facing send. Pricing commitments remain human-owned.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framework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“LLM accuracy” is not one metric. Test every layer and the full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37944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425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43584" y="18105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688336" y="1810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Stakeholders, criteria, commitments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406640" y="1792224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70648" y="181051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/ recall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459736"/>
            <a:ext cx="365760" cy="365760"/>
          </a:xfrm>
          <a:prstGeom prst="ellipse">
            <a:avLst/>
          </a:prstGeom>
          <a:solidFill>
            <a:srgbClr val="2B59C3"/>
          </a:solidFill>
          <a:ln w="12700">
            <a:solidFill>
              <a:srgbClr val="2B59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4643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43584" y="2432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Grounding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688336" y="24323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Claim ↔ supporting evidence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406640" y="2414016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0648" y="243230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Unsupported claim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" y="3081528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0861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43584" y="30540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state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2688336" y="30540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/ unknown / conflict / resolved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7406640" y="3035808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0648" y="3054096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Human-labeled correctness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3703320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7078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43584" y="36758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detection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2688336" y="36758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missing condition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7406640" y="3657600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367588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positive / false negative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4325112"/>
            <a:ext cx="365760" cy="365760"/>
          </a:xfrm>
          <a:prstGeom prst="ellipse">
            <a:avLst/>
          </a:prstGeom>
          <a:solidFill>
            <a:srgbClr val="15937F"/>
          </a:solidFill>
          <a:ln w="12700">
            <a:solidFill>
              <a:srgbClr val="1593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3296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43584" y="4297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2688336" y="4297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Logical, feasible, safe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7406640" y="4279392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70648" y="4297680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rubric + accept/modify/dismiss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" y="4946904"/>
            <a:ext cx="365760" cy="365760"/>
          </a:xfrm>
          <a:prstGeom prst="ellipse">
            <a:avLst/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9514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43584" y="49194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2688336" y="49194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tool + params + permissions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7406640" y="4901184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0648" y="491947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Tool/action compliance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3232" y="5568696"/>
            <a:ext cx="365760" cy="365760"/>
          </a:xfrm>
          <a:prstGeom prst="ellipse">
            <a:avLst/>
          </a:prstGeom>
          <a:solidFill>
            <a:srgbClr val="0F1726"/>
          </a:solidFill>
          <a:ln w="12700">
            <a:solidFill>
              <a:srgbClr val="0F17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5732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243584" y="55412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to end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2688336" y="55412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→ state → gap → action → outcome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7406640" y="5522976"/>
            <a:ext cx="3474720" cy="274320"/>
          </a:xfrm>
          <a:prstGeom prst="roundRect">
            <a:avLst>
              <a:gd name="adj" fmla="val 4666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70648" y="5541264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scenario pass 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" y="62179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 dataset yet?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2267712" y="614476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golden synthetic scenario set to test behavior — then move to shadow-mode evaluation on permissioned real deals.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Illustrative design-partner pilot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~12-week pilot can test the core product risk if integration scope stays deliberately narrow.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EEF3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8424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W1–2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2066544" y="1901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+ ontology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041648" y="1901952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partner interviews; golden eval set; choose one CRM + one mail provider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13232" y="2542032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EEF3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5176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W3–4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066544" y="25694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layer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4041648" y="2569464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sync, event model, source provenance, permissions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713232" y="3209544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E8F7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3192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W5–6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066544" y="32369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Twin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041648" y="3236976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Extraction, entity resolution, temporal state, correction UX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713232" y="3877056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E8F7F3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867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W7–8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2066544" y="39044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engine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041648" y="3904488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 rules; conflict handling; confidence + unknown states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13232" y="4544568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FFF4D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65429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W9–10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2066544" y="45720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Intervention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041648" y="4572000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 Queue; planner; brief/draft generation; approval policy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13232" y="5212080"/>
            <a:ext cx="1170432" cy="493776"/>
          </a:xfrm>
          <a:prstGeom prst="roundRect">
            <a:avLst>
              <a:gd name="adj" fmla="val 22222"/>
            </a:avLst>
          </a:prstGeom>
          <a:solidFill>
            <a:srgbClr val="FFF4D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3218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W11–12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066544" y="52395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hardening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4041648" y="5239512"/>
            <a:ext cx="6766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evals; prompt-injection tests; shadow pilot; instrumentation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731520" y="6126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A23A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scope assumption: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20240" y="606247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One CRM + one email provider + existing meeting transcripts. Production hardening and broader integrations follow only if the core hypotheses pass.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93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Sources, assumptions &amp; integrity notes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Current-market research supports the problem framing; prototype data and product claims are explicitly synthetic.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· May 20, 2026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3136392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 validate AI insights with reps; 67% rep-free; 70% digital self-service.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366760" y="17830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gartner.com/en/newsroom/press-releases/2026-05-20-…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713232" y="23865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Forrester · Feb 23, 2026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136392" y="2386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 of purchases span 3+ departments; avg. 13 internal + 9 external influencers.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366760" y="23865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forrester.com/blogs/three-realities-about-b2b-buying-networks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13232" y="29900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Dynamics 365 · 2026 Wave 1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3136392" y="29900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“CRM from a system of record into a system of action”; agents + prioritized actions.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366760" y="2990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learn.microsoft.com/en-us/dynamics365/release-plan/2026wave1/sales/…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713232" y="3593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· Feb/Mar 2026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136392" y="35935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87% of sales orgs use AI; Agentforce Sales covers prospecting → quoting.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366760" y="3593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salesforce.com/news/stories/state-of-sales-report-announcement-2026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713232" y="41970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· Sep 16, 2026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3136392" y="41970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Self-updating Smart CRM + Growth Context + Breeze Assistant.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366760" y="41970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hubspot.com/company-news/fall-26-spotlight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713232" y="48006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Gong · Jun 24, 2026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3136392" y="4800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Harness: governed custom agents with context, permissions and oversight.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366760" y="4800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gong.io/press/gong-launches-mission-big-dipper-revenue-harness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13232" y="5404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CopilotGTM + MEDDPICC · current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136392" y="54041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CopilotGTM tracks buyer progress/stakeholder gaps; MEDDPICC formalizes economic buyer, decision criteria/process and champion.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366760" y="54041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2B59C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copilotgtm.com · meddicc.com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13232" y="6016752"/>
            <a:ext cx="10771632" cy="438912"/>
          </a:xfrm>
          <a:prstGeom prst="roundRect">
            <a:avLst>
              <a:gd name="adj" fmla="val 250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6108192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86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Integrity note: Acme Corp, Maya, all deal values, prototype interactions and future product performance are fictional. No win-rate lift, prediction accuracy or proprietary data claim is made.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6539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3A2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DecisionOS (independent product concept)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DecisionOS — Reimagine CRM for the Future of Sales</dc:title>
  <dc:subject>Independent AI Product Case Study</dc:subject>
  <dc:creator>Nitish Ranjan</dc:creator>
  <cp:lastModifiedBy>Nitish Ranjan</cp:lastModifiedBy>
  <cp:revision>1</cp:revision>
  <dcterms:created xsi:type="dcterms:W3CDTF">2026-10-06T12:57:52Z</dcterms:created>
  <dcterms:modified xsi:type="dcterms:W3CDTF">2026-10-06T12:57:52Z</dcterms:modified>
</cp:coreProperties>
</file>