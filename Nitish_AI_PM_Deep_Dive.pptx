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6A8"/>
          </a:solidFill>
          <a:ln w="12700">
            <a:solidFill>
              <a:srgbClr val="10B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Product Manager Assessment • Recent Role Deep Dive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10469880" y="651052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Nitish Ranjan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linkedin.com/in/ranjan-nitish" TargetMode="External"/><Relationship Id="rId4" Type="http://schemas.openxmlformats.org/officeDocument/2006/relationships/hyperlink" Target="mailto:ranjannitish30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6B3A7"/>
          </a:solidFill>
          <a:ln w="12700">
            <a:solidFill>
              <a:srgbClr val="16B3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921240" y="-182880"/>
            <a:ext cx="2377440" cy="2148840"/>
          </a:xfrm>
          <a:prstGeom prst="chevron">
            <a:avLst/>
          </a:prstGeom>
          <a:solidFill>
            <a:srgbClr val="12374A">
              <a:alpha val="90000"/>
            </a:srgbClr>
          </a:solidFill>
          <a:ln w="12700">
            <a:solidFill>
              <a:srgbClr val="12374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300000">
            <a:off x="10149840" y="1508760"/>
            <a:ext cx="2286000" cy="2194560"/>
          </a:xfrm>
          <a:prstGeom prst="chevron">
            <a:avLst/>
          </a:prstGeom>
          <a:solidFill>
            <a:srgbClr val="0E4B4A">
              <a:alpha val="92000"/>
            </a:srgbClr>
          </a:solidFill>
          <a:ln w="12700">
            <a:solidFill>
              <a:srgbClr val="0E4B4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384048"/>
            <a:ext cx="1737360" cy="256032"/>
          </a:xfrm>
          <a:prstGeom prst="roundRect">
            <a:avLst/>
          </a:prstGeom>
          <a:solidFill>
            <a:srgbClr val="0B3D43"/>
          </a:solidFill>
          <a:ln w="12700">
            <a:solidFill>
              <a:srgbClr val="0B3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43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8EE1D9"/>
                </a:solidFill>
              </a:rPr>
              <a:t>RECENT ROLE DEEP DIVE</a:t>
            </a:r>
            <a:endParaRPr lang="en-US" sz="670" dirty="0"/>
          </a:p>
        </p:txBody>
      </p:sp>
      <p:sp>
        <p:nvSpPr>
          <p:cNvPr id="7" name="Text 5"/>
          <p:cNvSpPr/>
          <p:nvPr/>
        </p:nvSpPr>
        <p:spPr>
          <a:xfrm>
            <a:off x="384048" y="1051560"/>
            <a:ext cx="7909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analyst bottleneck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self-service analytics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02336" y="25603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8E3"/>
                </a:solidFill>
              </a:rPr>
              <a:t>How I identified the problem, framed the product, led validation, and drove it to adoption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" y="3858768"/>
            <a:ext cx="18745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396849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C8B8"/>
                </a:solidFill>
              </a:rPr>
              <a:t>100+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85216" y="429768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internal users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2487168" y="3858768"/>
            <a:ext cx="18745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396849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C8B8"/>
                </a:solidFill>
              </a:rPr>
              <a:t>~20%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33472" y="429768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fewer ad-hoc analytics tickets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535424" y="3858768"/>
            <a:ext cx="18745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3968496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53F"/>
                </a:solidFill>
              </a:rPr>
              <a:t>~3 mo.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81728" y="429768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from launch to measured impact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02336" y="589788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7C7"/>
                </a:solidFill>
              </a:rPr>
              <a:t>Nitish Ranjan  •  AiDash  •  AI Product / Enterprise SaaS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498080" y="5897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E8A99"/>
                </a:solidFill>
              </a:rPr>
              <a:t>Metrics rounded; operational details simplified for confidentiality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Context: where the product problem lived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AiDash uses satellite imagery, geospatial analytics and AI to help utilities monitor infrastructure and prioritize maintenance across large physical networks.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1307592"/>
            <a:ext cx="3246120" cy="44622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536192"/>
            <a:ext cx="731520" cy="2560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86384" y="158648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82F6"/>
                </a:solidFill>
              </a:rPr>
              <a:t>USER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13232" y="1920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Internal business 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331720"/>
            <a:ext cx="269748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42526B"/>
                </a:solidFill>
              </a:rPr>
              <a:t>Needed answers quickly for recurring operational and customer questions</a:t>
            </a:r>
            <a:endParaRPr lang="en-US" sz="910" dirty="0"/>
          </a:p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42526B"/>
                </a:solidFill>
              </a:rPr>
              <a:t>Questions changed often and did not map cleanly to fixed dashboards</a:t>
            </a:r>
            <a:endParaRPr lang="en-US" sz="910" dirty="0"/>
          </a:p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42526B"/>
                </a:solidFill>
              </a:rPr>
              <a:t>Most requests were time-sensitive, but many were not analytically complex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4050792" y="1307592"/>
            <a:ext cx="3246120" cy="44622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61104" y="1536192"/>
            <a:ext cx="1417320" cy="256032"/>
          </a:xfrm>
          <a:prstGeom prst="roundRect">
            <a:avLst/>
          </a:prstGeom>
          <a:solidFill>
            <a:srgbClr val="FFF4D8"/>
          </a:solidFill>
          <a:ln w="12700">
            <a:solidFill>
              <a:srgbClr val="FFF4D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334256" y="1586484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66A00"/>
                </a:solidFill>
              </a:rPr>
              <a:t>CURRENT WORKFLOW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261104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Analysts became the bottleneck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2423160"/>
            <a:ext cx="269748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42526B"/>
                </a:solidFill>
              </a:rPr>
              <a:t>Repeated schema lookup and query writing</a:t>
            </a:r>
            <a:endParaRPr lang="en-US" sz="910" dirty="0"/>
          </a:p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42526B"/>
                </a:solidFill>
              </a:rPr>
              <a:t>Interrupt-driven work reduced focus on higher-value analysis</a:t>
            </a:r>
            <a:endParaRPr lang="en-US" sz="910" dirty="0"/>
          </a:p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42526B"/>
                </a:solidFill>
              </a:rPr>
              <a:t>Turnaround depended on analyst availability</a:t>
            </a:r>
            <a:endParaRPr lang="en-US" sz="910" dirty="0"/>
          </a:p>
        </p:txBody>
      </p:sp>
      <p:sp>
        <p:nvSpPr>
          <p:cNvPr id="14" name="Shape 12"/>
          <p:cNvSpPr/>
          <p:nvPr/>
        </p:nvSpPr>
        <p:spPr>
          <a:xfrm>
            <a:off x="7598664" y="1307592"/>
            <a:ext cx="4087368" cy="4462272"/>
          </a:xfrm>
          <a:prstGeom prst="roundRect">
            <a:avLst/>
          </a:prstGeom>
          <a:solidFill>
            <a:srgbClr val="E7F7F4"/>
          </a:solidFill>
          <a:ln w="10160">
            <a:solidFill>
              <a:srgbClr val="B8E5D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818120" y="1536192"/>
            <a:ext cx="1691640" cy="256032"/>
          </a:xfrm>
          <a:prstGeom prst="roundRect">
            <a:avLst/>
          </a:prstGeom>
          <a:solidFill>
            <a:srgbClr val="D9F3EF"/>
          </a:solidFill>
          <a:ln w="12700">
            <a:solidFill>
              <a:srgbClr val="D9F3E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91272" y="158648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E9F92"/>
                </a:solidFill>
              </a:rPr>
              <a:t>MY PRODUCT MANDATE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7818120" y="19202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Move routine work to self-service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without sacrificing trust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45552" y="2761488"/>
            <a:ext cx="324612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42526B"/>
                </a:solidFill>
              </a:rPr>
              <a:t>Frame the product problem and define the bounded first scope</a:t>
            </a:r>
            <a:endParaRPr lang="en-US" sz="910" dirty="0"/>
          </a:p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42526B"/>
                </a:solidFill>
              </a:rPr>
              <a:t>Own business schema / semantics and clear acceptance criteria</a:t>
            </a:r>
            <a:endParaRPr lang="en-US" sz="910" dirty="0"/>
          </a:p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42526B"/>
                </a:solidFill>
              </a:rPr>
              <a:t>Co-own guardrails, evaluation and transition with Engineering</a:t>
            </a:r>
            <a:endParaRPr lang="en-US" sz="910" dirty="0"/>
          </a:p>
          <a:p>
            <a:pPr marL="152400" indent="-152400">
              <a:buSzPct val="100000"/>
              <a:buChar char="•"/>
            </a:pPr>
            <a:r>
              <a:rPr lang="en-US" sz="910" dirty="0">
                <a:solidFill>
                  <a:srgbClr val="42526B"/>
                </a:solidFill>
              </a:rPr>
              <a:t>Drive UAT, rollout, adoption and outcome measurement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7973568" y="4937760"/>
            <a:ext cx="3337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5D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092440" y="5093208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9F92"/>
                </a:solidFill>
              </a:rPr>
              <a:t>Self-service first  •  Human judgment when needed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Discovery: the repeated work was hiding in plain sight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I started by categorizing incoming ad-hoc analytics requests rather than jumping to an AI solution.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2743200" cy="4389120"/>
          </a:xfrm>
          <a:prstGeom prst="roundRect">
            <a:avLst/>
          </a:prstGeom>
          <a:solidFill>
            <a:srgbClr val="0B1324"/>
          </a:solidFill>
          <a:ln w="10160">
            <a:solidFill>
              <a:srgbClr val="0B13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D4BF"/>
                </a:solidFill>
              </a:rPr>
              <a:t>≈80%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2761488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sampled ad-hoc requests were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straightforward, repetitive query runs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86384" y="5166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AAB7C7"/>
                </a:solidFill>
              </a:rPr>
              <a:t>Important: this was not 80% of all analytics work.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370332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728"/>
                </a:solidFill>
              </a:rPr>
              <a:t>The recurring pattern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192024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93852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187952" y="1874520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2526B"/>
                </a:solidFill>
              </a:rPr>
              <a:t>User asks a recurring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42526B"/>
                </a:solidFill>
              </a:rPr>
              <a:t>business question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3895344" y="2221992"/>
            <a:ext cx="0" cy="356616"/>
          </a:xfrm>
          <a:prstGeom prst="line">
            <a:avLst/>
          </a:prstGeom>
          <a:noFill/>
          <a:ln w="19050">
            <a:solidFill>
              <a:srgbClr val="B8C4D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2670048"/>
            <a:ext cx="292608" cy="292608"/>
          </a:xfrm>
          <a:prstGeom prst="ellipse">
            <a:avLst/>
          </a:prstGeom>
          <a:solidFill>
            <a:srgbClr val="0E9F92"/>
          </a:solidFill>
          <a:ln w="12700">
            <a:solidFill>
              <a:srgbClr val="0E9F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688336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87952" y="262432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2526B"/>
                </a:solidFill>
              </a:rPr>
              <a:t>Analyst finds the right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42526B"/>
                </a:solidFill>
              </a:rPr>
              <a:t>schema / tables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895344" y="2971800"/>
            <a:ext cx="0" cy="356616"/>
          </a:xfrm>
          <a:prstGeom prst="line">
            <a:avLst/>
          </a:prstGeom>
          <a:noFill/>
          <a:ln w="19050">
            <a:solidFill>
              <a:srgbClr val="B8C4D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49040" y="3419856"/>
            <a:ext cx="292608" cy="29260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438144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187952" y="337413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2526B"/>
                </a:solidFill>
              </a:rPr>
              <a:t>Analyst writes and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42526B"/>
                </a:solidFill>
              </a:rPr>
              <a:t>validates SQL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3895344" y="3721608"/>
            <a:ext cx="0" cy="356616"/>
          </a:xfrm>
          <a:prstGeom prst="line">
            <a:avLst/>
          </a:prstGeom>
          <a:noFill/>
          <a:ln w="19050">
            <a:solidFill>
              <a:srgbClr val="B8C4D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49040" y="4169664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4187952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187952" y="412394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2526B"/>
                </a:solidFill>
              </a:rPr>
              <a:t>Analyst returns the answer;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42526B"/>
                </a:solidFill>
              </a:rPr>
              <a:t>pattern repeats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799832" y="1874520"/>
            <a:ext cx="3566160" cy="2423160"/>
          </a:xfrm>
          <a:prstGeom prst="roundRect">
            <a:avLst/>
          </a:prstGeom>
          <a:solidFill>
            <a:srgbClr val="FFF4D8"/>
          </a:solidFill>
          <a:ln w="10160">
            <a:solidFill>
              <a:srgbClr val="F3D1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74152" y="2148840"/>
            <a:ext cx="1325880" cy="256032"/>
          </a:xfrm>
          <a:prstGeom prst="roundRect">
            <a:avLst/>
          </a:prstGeom>
          <a:solidFill>
            <a:srgbClr val="FFE9B0"/>
          </a:solidFill>
          <a:ln w="12700">
            <a:solidFill>
              <a:srgbClr val="FFE9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47304" y="219913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66A00"/>
                </a:solidFill>
              </a:rPr>
              <a:t>PRODUCT INSIGHT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8074152" y="2633472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728"/>
                </a:solidFill>
              </a:rPr>
              <a:t>Automate the repeatable path —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D1728"/>
                </a:solidFill>
              </a:rPr>
              <a:t>not the judgment-heavy analysis.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74152" y="3675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2526B"/>
                </a:solidFill>
              </a:rPr>
              <a:t>That became the boundary for the first release.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decision: why self-service AI, not “just another dashboard”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The long tail of questions changed too often for a fixed interface, but the repeatable workflow was structured enough to constrain.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29184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64208"/>
            <a:ext cx="1097280" cy="256032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14500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D92D20"/>
                </a:solidFill>
              </a:rPr>
              <a:t>NOT ENOUGH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768096" y="2057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More dashboards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70048"/>
            <a:ext cx="26974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Good for predefined questions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Breaks on the long tail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Still creates dashboard backlog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804672" y="4590288"/>
            <a:ext cx="26974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77316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Useful, but does not remove the core bottleneck.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96512" y="1417320"/>
            <a:ext cx="329184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664208"/>
            <a:ext cx="1097280" cy="256032"/>
          </a:xfrm>
          <a:prstGeom prst="roundRect">
            <a:avLst/>
          </a:prstGeom>
          <a:solidFill>
            <a:srgbClr val="FFF4D8"/>
          </a:solidFill>
          <a:ln w="12700">
            <a:solidFill>
              <a:srgbClr val="FFF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714500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66A00"/>
                </a:solidFill>
              </a:rPr>
              <a:t>DOES NOT SCALE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4315968" y="2057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More analyst capacity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52544" y="2670048"/>
            <a:ext cx="26974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Improves turnaround temporarily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Keeps repetitive work human-owned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Cost grows with demand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352544" y="4590288"/>
            <a:ext cx="26974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52544" y="477316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Adds capacity, not a better product workflow.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644384" y="1417320"/>
            <a:ext cx="329184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45552" y="1664208"/>
            <a:ext cx="1097280" cy="256032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18704" y="1714500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E9F92"/>
                </a:solidFill>
              </a:rPr>
              <a:t>CHOSEN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7863840" y="20574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Natural-language self-service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00416" y="2670048"/>
            <a:ext cx="269748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Handles variable questions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Preserves structured execution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Can be bounded by validation + guardrails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900416" y="4590288"/>
            <a:ext cx="269748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0416" y="4773168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7085"/>
                </a:solidFill>
              </a:rPr>
              <a:t>Best path to user value + scalable operations.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3232" y="601675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92"/>
                </a:solidFill>
              </a:rPr>
              <a:t>Success definition: shift routine questions away from analyst queues — while keeping execution safe, bounded and explainable.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release: narrow enough to trust, useful enough to change behavior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I deliberately constrained the initial scope to the highest-frequency, lowest-risk analytical workflows.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8B4D"/>
                </a:solidFill>
              </a:rPr>
              <a:t>IN SCOPE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0" y="1325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2D20"/>
                </a:solidFill>
              </a:rPr>
              <a:t>DELIBERATELY OUT OF SCOPE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5257800" cy="56692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EE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792224"/>
            <a:ext cx="310896" cy="310896"/>
          </a:xfrm>
          <a:prstGeom prst="ellipse">
            <a:avLst/>
          </a:prstGeom>
          <a:solidFill>
            <a:srgbClr val="168B4D"/>
          </a:solidFill>
          <a:ln w="12700">
            <a:solidFill>
              <a:srgbClr val="168B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1051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17465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0D1728"/>
                </a:solidFill>
              </a:rPr>
              <a:t>Natural-language questions</a:t>
            </a:r>
            <a:endParaRPr lang="en-US" sz="1010" dirty="0"/>
          </a:p>
        </p:txBody>
      </p:sp>
      <p:sp>
        <p:nvSpPr>
          <p:cNvPr id="10" name="Text 8"/>
          <p:cNvSpPr/>
          <p:nvPr/>
        </p:nvSpPr>
        <p:spPr>
          <a:xfrm>
            <a:off x="3401568" y="174650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2526B"/>
                </a:solidFill>
              </a:rPr>
              <a:t>Users ask in their own words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02920" y="2340864"/>
            <a:ext cx="5257800" cy="56692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EE5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468880"/>
            <a:ext cx="310896" cy="310896"/>
          </a:xfrm>
          <a:prstGeom prst="ellipse">
            <a:avLst/>
          </a:prstGeom>
          <a:solidFill>
            <a:srgbClr val="168B4D"/>
          </a:solidFill>
          <a:ln w="12700">
            <a:solidFill>
              <a:srgbClr val="168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48716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24231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0D1728"/>
                </a:solidFill>
              </a:rPr>
              <a:t>Relevant schema retrieval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3401568" y="24231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2526B"/>
                </a:solidFill>
              </a:rPr>
              <a:t>Only context needed for the question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5257800" cy="56692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EE5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145536"/>
            <a:ext cx="310896" cy="310896"/>
          </a:xfrm>
          <a:prstGeom prst="ellipse">
            <a:avLst/>
          </a:prstGeom>
          <a:solidFill>
            <a:srgbClr val="168B4D"/>
          </a:solidFill>
          <a:ln w="12700">
            <a:solidFill>
              <a:srgbClr val="168B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16382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30998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0D1728"/>
                </a:solidFill>
              </a:rPr>
              <a:t>SQL generation + validation</a:t>
            </a:r>
            <a:endParaRPr lang="en-US" sz="1010" dirty="0"/>
          </a:p>
        </p:txBody>
      </p:sp>
      <p:sp>
        <p:nvSpPr>
          <p:cNvPr id="20" name="Text 18"/>
          <p:cNvSpPr/>
          <p:nvPr/>
        </p:nvSpPr>
        <p:spPr>
          <a:xfrm>
            <a:off x="3401568" y="309981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2526B"/>
                </a:solidFill>
              </a:rPr>
              <a:t>Intent → query → safe execution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502920" y="3694176"/>
            <a:ext cx="5257800" cy="56692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EE5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3822192"/>
            <a:ext cx="310896" cy="310896"/>
          </a:xfrm>
          <a:prstGeom prst="ellipse">
            <a:avLst/>
          </a:prstGeom>
          <a:solidFill>
            <a:srgbClr val="168B4D"/>
          </a:solidFill>
          <a:ln w="12700">
            <a:solidFill>
              <a:srgbClr val="168B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84048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" y="37764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0D1728"/>
                </a:solidFill>
              </a:rPr>
              <a:t>Clarification / bounded retry</a:t>
            </a:r>
            <a:endParaRPr lang="en-US" sz="1010" dirty="0"/>
          </a:p>
        </p:txBody>
      </p:sp>
      <p:sp>
        <p:nvSpPr>
          <p:cNvPr id="25" name="Text 23"/>
          <p:cNvSpPr/>
          <p:nvPr/>
        </p:nvSpPr>
        <p:spPr>
          <a:xfrm>
            <a:off x="3401568" y="377647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2526B"/>
                </a:solidFill>
              </a:rPr>
              <a:t>Explicit branches for ambiguity / failure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02920" y="4370832"/>
            <a:ext cx="5257800" cy="56692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BEE5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498848"/>
            <a:ext cx="310896" cy="310896"/>
          </a:xfrm>
          <a:prstGeom prst="ellipse">
            <a:avLst/>
          </a:prstGeom>
          <a:solidFill>
            <a:srgbClr val="168B4D"/>
          </a:solidFill>
          <a:ln w="12700">
            <a:solidFill>
              <a:srgbClr val="168B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451713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3000" y="44531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0D1728"/>
                </a:solidFill>
              </a:rPr>
              <a:t>Read-only execution</a:t>
            </a:r>
            <a:endParaRPr lang="en-US" sz="1010" dirty="0"/>
          </a:p>
        </p:txBody>
      </p:sp>
      <p:sp>
        <p:nvSpPr>
          <p:cNvPr id="30" name="Text 28"/>
          <p:cNvSpPr/>
          <p:nvPr/>
        </p:nvSpPr>
        <p:spPr>
          <a:xfrm>
            <a:off x="3401568" y="445312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2526B"/>
                </a:solidFill>
              </a:rPr>
              <a:t>No source-data mutation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217920" y="1664208"/>
            <a:ext cx="5440680" cy="658368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7B8B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28232" y="1837944"/>
            <a:ext cx="310896" cy="310896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185623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17556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0D1728"/>
                </a:solidFill>
              </a:rPr>
              <a:t>Complex analytical judgment</a:t>
            </a:r>
            <a:endParaRPr lang="en-US" sz="1010" dirty="0"/>
          </a:p>
        </p:txBody>
      </p:sp>
      <p:sp>
        <p:nvSpPr>
          <p:cNvPr id="35" name="Text 33"/>
          <p:cNvSpPr/>
          <p:nvPr/>
        </p:nvSpPr>
        <p:spPr>
          <a:xfrm>
            <a:off x="9235440" y="1755648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2526B"/>
                </a:solidFill>
              </a:rPr>
              <a:t>Kept with analysts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217920" y="2432304"/>
            <a:ext cx="5440680" cy="658368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7B8B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28232" y="2606040"/>
            <a:ext cx="310896" cy="310896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2624328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×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252374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0D1728"/>
                </a:solidFill>
              </a:rPr>
              <a:t>Write-back actions</a:t>
            </a:r>
            <a:endParaRPr lang="en-US" sz="1010" dirty="0"/>
          </a:p>
        </p:txBody>
      </p:sp>
      <p:sp>
        <p:nvSpPr>
          <p:cNvPr id="40" name="Text 38"/>
          <p:cNvSpPr/>
          <p:nvPr/>
        </p:nvSpPr>
        <p:spPr>
          <a:xfrm>
            <a:off x="9235440" y="2523744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2526B"/>
                </a:solidFill>
              </a:rPr>
              <a:t>No mutation of source data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217920" y="3200400"/>
            <a:ext cx="5440680" cy="658368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7B8B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28232" y="3374136"/>
            <a:ext cx="310896" cy="310896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339242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×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329184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0D1728"/>
                </a:solidFill>
              </a:rPr>
              <a:t>“Answer anything” behavior</a:t>
            </a:r>
            <a:endParaRPr lang="en-US" sz="1010" dirty="0"/>
          </a:p>
        </p:txBody>
      </p:sp>
      <p:sp>
        <p:nvSpPr>
          <p:cNvPr id="45" name="Text 43"/>
          <p:cNvSpPr/>
          <p:nvPr/>
        </p:nvSpPr>
        <p:spPr>
          <a:xfrm>
            <a:off x="9235440" y="32918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2526B"/>
                </a:solidFill>
              </a:rPr>
              <a:t>Supported workflows over broad coverage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6217920" y="3968496"/>
            <a:ext cx="5440680" cy="658368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7B8B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28232" y="4142232"/>
            <a:ext cx="310896" cy="310896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28232" y="416052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×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58000" y="405993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0D1728"/>
                </a:solidFill>
              </a:rPr>
              <a:t>Broad autonomy from day one</a:t>
            </a:r>
            <a:endParaRPr lang="en-US" sz="1010" dirty="0"/>
          </a:p>
        </p:txBody>
      </p:sp>
      <p:sp>
        <p:nvSpPr>
          <p:cNvPr id="50" name="Text 48"/>
          <p:cNvSpPr/>
          <p:nvPr/>
        </p:nvSpPr>
        <p:spPr>
          <a:xfrm>
            <a:off x="9235440" y="405993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2526B"/>
                </a:solidFill>
              </a:rPr>
              <a:t>Expand only after quality + trust are proven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6217920" y="4992624"/>
            <a:ext cx="5440680" cy="566928"/>
          </a:xfrm>
          <a:prstGeom prst="roundRect">
            <a:avLst/>
          </a:prstGeom>
          <a:solidFill>
            <a:srgbClr val="FFF4D8"/>
          </a:solidFill>
          <a:ln w="10160">
            <a:solidFill>
              <a:srgbClr val="F0C66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51937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5A00"/>
                </a:solidFill>
              </a:rPr>
              <a:t>Product principle: earn trust before expanding autonomy.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role: clear product ownership, clear engineering boundaries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I led the product decisions and release readiness while co-owning AI quality controls with Engineering.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4747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83080"/>
            <a:ext cx="1691640" cy="256032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833372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E9F92"/>
                </a:solidFill>
              </a:rPr>
              <a:t>PM OWNED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13816" y="2423160"/>
            <a:ext cx="28346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D1728"/>
                </a:solidFill>
              </a:rPr>
              <a:t>Problem framing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D1728"/>
                </a:solidFill>
              </a:rPr>
              <a:t>Business schema / semantics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D1728"/>
                </a:solidFill>
              </a:rPr>
              <a:t>Rollout &amp; adoption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08760"/>
            <a:ext cx="34747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783080"/>
            <a:ext cx="1691640" cy="256032"/>
          </a:xfrm>
          <a:prstGeom prst="roundRect">
            <a:avLst/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1833372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C3AED"/>
                </a:solidFill>
              </a:rPr>
              <a:t>SHARED / CO-OWNED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4654296" y="2423160"/>
            <a:ext cx="28346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D1728"/>
                </a:solidFill>
              </a:rPr>
              <a:t>Guardrails &amp; safety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D1728"/>
                </a:solidFill>
              </a:rPr>
              <a:t>Eval suite / golden dataset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D1728"/>
                </a:solidFill>
              </a:rPr>
              <a:t>Prototype transition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4747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39912" y="1783080"/>
            <a:ext cx="1691640" cy="2560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13064" y="1833372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3B82F6"/>
                </a:solidFill>
              </a:rPr>
              <a:t>ENGINEERING OWNED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8494776" y="2423160"/>
            <a:ext cx="28346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D1728"/>
                </a:solidFill>
              </a:rPr>
              <a:t>Production architecture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D1728"/>
                </a:solidFill>
              </a:rPr>
              <a:t>Data platform / Snowflake</a:t>
            </a:r>
            <a:endParaRPr lang="en-US" sz="1100" dirty="0"/>
          </a:p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D1728"/>
                </a:solidFill>
              </a:rPr>
              <a:t>Reliability &amp; observability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1560" y="5440680"/>
            <a:ext cx="10058400" cy="566928"/>
          </a:xfrm>
          <a:prstGeom prst="roundRect">
            <a:avLst/>
          </a:prstGeom>
          <a:solidFill>
            <a:srgbClr val="0B1324"/>
          </a:solidFill>
          <a:ln w="10160">
            <a:solidFill>
              <a:srgbClr val="0B13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56418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57D7C8"/>
                </a:solidFill>
              </a:rPr>
              <a:t>PM principle: own the problem, product behavior, acceptance and adoption — without taking credit for engineering implementation.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workflow: simple conversation, explicit failure handling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The user sees a natural-language experience; the product routes ambiguity and execution failures through controlled branches.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1097280" cy="8229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AFC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" y="205740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User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question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435608" y="2240280"/>
            <a:ext cx="19202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664208" y="1828800"/>
            <a:ext cx="1325880" cy="822960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C5B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9072" y="205740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Intent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ambiguity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008376" y="224028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46120" y="1828800"/>
            <a:ext cx="1417320" cy="822960"/>
          </a:xfrm>
          <a:prstGeom prst="roundRect">
            <a:avLst/>
          </a:prstGeom>
          <a:solidFill>
            <a:srgbClr val="E7F7F4"/>
          </a:solidFill>
          <a:ln w="10160">
            <a:solidFill>
              <a:srgbClr val="A9E2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2057400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Schema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retrieval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81728" y="224028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919472" y="1828800"/>
            <a:ext cx="1234440" cy="8229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AFC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205740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SQL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generation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72200" y="22402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19088" y="1828800"/>
            <a:ext cx="1234440" cy="822960"/>
          </a:xfrm>
          <a:prstGeom prst="roundRect">
            <a:avLst/>
          </a:prstGeom>
          <a:solidFill>
            <a:srgbClr val="FFF4D8"/>
          </a:solidFill>
          <a:ln w="10160">
            <a:solidFill>
              <a:srgbClr val="F2CE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05740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SQL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validation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671816" y="2240280"/>
            <a:ext cx="21031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918704" y="1828800"/>
            <a:ext cx="1298448" cy="822960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A8DA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73568" y="2057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Snowflake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read-only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235440" y="2240280"/>
            <a:ext cx="20116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73184" y="1828800"/>
            <a:ext cx="1325880" cy="8229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AFC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8048" y="2057400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Response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synthesis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817352" y="2240280"/>
            <a:ext cx="19202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1045952" y="1828800"/>
            <a:ext cx="822960" cy="822960"/>
          </a:xfrm>
          <a:prstGeom prst="roundRect">
            <a:avLst/>
          </a:prstGeom>
          <a:solidFill>
            <a:srgbClr val="E7F7F4"/>
          </a:solidFill>
          <a:ln w="10160">
            <a:solidFill>
              <a:srgbClr val="A9E2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00816" y="205740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Answer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D1728"/>
                </a:solidFill>
              </a:rPr>
              <a:t>to user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234440" y="3675888"/>
            <a:ext cx="2240280" cy="749808"/>
          </a:xfrm>
          <a:prstGeom prst="roundRect">
            <a:avLst/>
          </a:prstGeom>
          <a:solidFill>
            <a:srgbClr val="FFF4D8"/>
          </a:solidFill>
          <a:ln w="10160">
            <a:solidFill>
              <a:srgbClr val="F0C6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4752" y="3895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A5A00"/>
                </a:solidFill>
              </a:rPr>
              <a:t>Clarify with user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2331720" y="2670048"/>
            <a:ext cx="0" cy="896112"/>
          </a:xfrm>
          <a:prstGeom prst="line">
            <a:avLst/>
          </a:prstGeom>
          <a:noFill/>
          <a:ln w="19050">
            <a:solidFill>
              <a:srgbClr val="B66A0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414016" y="299923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B66A00"/>
                </a:solidFill>
              </a:rPr>
              <a:t>ambiguous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1234440" y="4041648"/>
            <a:ext cx="-658368" cy="-1097280"/>
          </a:xfrm>
          <a:prstGeom prst="line">
            <a:avLst/>
          </a:prstGeom>
          <a:noFill/>
          <a:ln w="16510">
            <a:solidFill>
              <a:srgbClr val="B66A0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806440" y="3675888"/>
            <a:ext cx="2331720" cy="749808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F7B8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71032" y="389534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2D20"/>
                </a:solidFill>
              </a:rPr>
              <a:t>Bounded retry / safe stop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31736" y="2670048"/>
            <a:ext cx="0" cy="896112"/>
          </a:xfrm>
          <a:prstGeom prst="line">
            <a:avLst/>
          </a:prstGeom>
          <a:noFill/>
          <a:ln w="19050">
            <a:solidFill>
              <a:srgbClr val="D92D20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114032" y="299923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D92D20"/>
                </a:solidFill>
              </a:rPr>
              <a:t>validation fails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5806440" y="4041648"/>
            <a:ext cx="-502920" cy="-1097280"/>
          </a:xfrm>
          <a:prstGeom prst="line">
            <a:avLst/>
          </a:prstGeom>
          <a:noFill/>
          <a:ln w="16510">
            <a:solidFill>
              <a:srgbClr val="D92D20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658368" y="5230368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9F92"/>
                </a:solidFill>
              </a:rPr>
              <a:t>Key product behavior: ambiguity is clarified before retrieval; invalid SQL retries back to generation; successful results are synthesized into a user-facing answer.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product decisions that shaped the experience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The hard part was not choosing a model; it was deciding where the product should be flexible and where it should be constrained.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30352" y="1481328"/>
            <a:ext cx="32461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719072"/>
            <a:ext cx="438912" cy="2560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76936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82F6"/>
                </a:solidFill>
              </a:rPr>
              <a:t>01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31520" y="215798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Coverage vs. trust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163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Should it answer everything?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2670048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3611880"/>
            <a:ext cx="2679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2526B"/>
                </a:solidFill>
              </a:rPr>
              <a:t>No. Start with repeatable workflows and clarify ambiguity rather than guessing.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114800" y="1481328"/>
            <a:ext cx="32461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15968" y="1719072"/>
            <a:ext cx="438912" cy="256032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89120" y="176936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E9F92"/>
                </a:solidFill>
              </a:rPr>
              <a:t>02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4315968" y="215798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Speed vs. release confidence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15968" y="28163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9F92"/>
                </a:solidFill>
              </a:rPr>
              <a:t>How fast should we expand?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15968" y="3337560"/>
            <a:ext cx="2670048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15968" y="3611880"/>
            <a:ext cx="2679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2526B"/>
                </a:solidFill>
              </a:rPr>
              <a:t>Use the eval suite and acceptance criteria as release gates; broaden scope only after quality is demonstrated.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7699248" y="1481328"/>
            <a:ext cx="3246120" cy="4160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900416" y="1719072"/>
            <a:ext cx="438912" cy="256032"/>
          </a:xfrm>
          <a:prstGeom prst="roundRect">
            <a:avLst/>
          </a:prstGeom>
          <a:solidFill>
            <a:srgbClr val="FFF4D8"/>
          </a:solidFill>
          <a:ln w="12700">
            <a:solidFill>
              <a:srgbClr val="FFF4D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73568" y="176936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66A00"/>
                </a:solidFill>
              </a:rPr>
              <a:t>03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7900416" y="215798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Autonomy vs. control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900416" y="28163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66A00"/>
                </a:solidFill>
              </a:rPr>
              <a:t>Let the LLM execute freely?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900416" y="3337560"/>
            <a:ext cx="2670048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900416" y="3611880"/>
            <a:ext cx="2679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42526B"/>
                </a:solidFill>
              </a:rPr>
              <a:t>No. Restrict context, validate SQL, keep execution read-only and preserve safe failure behavior.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82296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92"/>
                </a:solidFill>
              </a:rPr>
              <a:t>PM guardrail lens: define where AI may act, when it must clarify, what must be validated, and when the workflow must stop safely.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architecture: reasoning where it helps, deterministic controls where trust matters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I led the product behavior and quality gates; Engineering owned the production architecture and reliability layer.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0574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58952" y="1737360"/>
            <a:ext cx="1728216" cy="2560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32104" y="1787652"/>
            <a:ext cx="1581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3B82F6"/>
                </a:solidFill>
              </a:rPr>
              <a:t>PRODUCT EXPERIENCE</a:t>
            </a:r>
            <a:endParaRPr lang="en-US" sz="640" dirty="0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16916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Natural-language question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Clarification UX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Answer / explanation</a:t>
            </a:r>
            <a:endParaRPr lang="en-US" sz="870" dirty="0"/>
          </a:p>
        </p:txBody>
      </p:sp>
      <p:sp>
        <p:nvSpPr>
          <p:cNvPr id="8" name="Shape 6"/>
          <p:cNvSpPr/>
          <p:nvPr/>
        </p:nvSpPr>
        <p:spPr>
          <a:xfrm>
            <a:off x="2688336" y="3246120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880360" y="1508760"/>
            <a:ext cx="219456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044952" y="1737360"/>
            <a:ext cx="1865376" cy="256032"/>
          </a:xfrm>
          <a:prstGeom prst="roundRect">
            <a:avLst/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118104" y="178765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7C3AED"/>
                </a:solidFill>
              </a:rPr>
              <a:t>ORCHESTRATION</a:t>
            </a:r>
            <a:endParaRPr lang="en-US" sz="640" dirty="0"/>
          </a:p>
        </p:txBody>
      </p:sp>
      <p:sp>
        <p:nvSpPr>
          <p:cNvPr id="12" name="Text 10"/>
          <p:cNvSpPr/>
          <p:nvPr/>
        </p:nvSpPr>
        <p:spPr>
          <a:xfrm>
            <a:off x="3063240" y="2350008"/>
            <a:ext cx="18288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LangGraph state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Intent handling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Branching + bounded retry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5111496" y="3246120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303520" y="1508760"/>
            <a:ext cx="233172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468112" y="1737360"/>
            <a:ext cx="2002536" cy="256032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541264" y="1787652"/>
            <a:ext cx="1856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0E9F92"/>
                </a:solidFill>
              </a:rPr>
              <a:t>AI / CONTEXT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5486400" y="2350008"/>
            <a:ext cx="19659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Schema retrieval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LLM SQL generation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SQL → text synthesis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7671816" y="3246120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63840" y="1508760"/>
            <a:ext cx="196596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28432" y="1737360"/>
            <a:ext cx="1636776" cy="256032"/>
          </a:xfrm>
          <a:prstGeom prst="roundRect">
            <a:avLst/>
          </a:prstGeom>
          <a:solidFill>
            <a:srgbClr val="FFF4D8"/>
          </a:solidFill>
          <a:ln w="12700">
            <a:solidFill>
              <a:srgbClr val="FFF4D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101584" y="1787652"/>
            <a:ext cx="1490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B66A00"/>
                </a:solidFill>
              </a:rPr>
              <a:t>CONTROL LAYER</a:t>
            </a:r>
            <a:endParaRPr lang="en-US" sz="640" dirty="0"/>
          </a:p>
        </p:txBody>
      </p:sp>
      <p:sp>
        <p:nvSpPr>
          <p:cNvPr id="22" name="Text 20"/>
          <p:cNvSpPr/>
          <p:nvPr/>
        </p:nvSpPr>
        <p:spPr>
          <a:xfrm>
            <a:off x="8046720" y="2350008"/>
            <a:ext cx="16002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sz="870">
                <a:latin typeface="Aptos"/>
              </a:rPr>
              <a:t>Context / schema constraints</a:t>
            </a:r>
          </a:p>
          <a:p>
            <a:r>
              <a:rPr sz="870">
                <a:latin typeface="Aptos"/>
              </a:rPr>
              <a:t>Read-only checks + SQL validation</a:t>
            </a:r>
          </a:p>
          <a:p>
            <a:r>
              <a:rPr sz="870">
                <a:latin typeface="Aptos"/>
              </a:rPr>
              <a:t>Bounded retry / safe stop</a:t>
            </a:r>
          </a:p>
        </p:txBody>
      </p:sp>
      <p:sp>
        <p:nvSpPr>
          <p:cNvPr id="23" name="Shape 21"/>
          <p:cNvSpPr/>
          <p:nvPr/>
        </p:nvSpPr>
        <p:spPr>
          <a:xfrm>
            <a:off x="9866376" y="3246120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058400" y="1508760"/>
            <a:ext cx="16002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222992" y="1737360"/>
            <a:ext cx="1271016" cy="256032"/>
          </a:xfrm>
          <a:prstGeom prst="roundRect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296144" y="1787652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168B4D"/>
                </a:solidFill>
              </a:rPr>
              <a:t>DATA / RUNTIME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10241280" y="2350008"/>
            <a:ext cx="12344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Snowflake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Execution</a:t>
            </a:r>
            <a:endParaRPr lang="en-US" sz="870" dirty="0"/>
          </a:p>
          <a:p>
            <a:pPr marL="152400" indent="-152400">
              <a:buSzPct val="100000"/>
              <a:buChar char="•"/>
            </a:pPr>
            <a:r>
              <a:rPr lang="en-US" sz="870" dirty="0">
                <a:solidFill>
                  <a:srgbClr val="0D1728"/>
                </a:solidFill>
              </a:rPr>
              <a:t>Observability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960120" y="5349240"/>
            <a:ext cx="4709160" cy="566928"/>
          </a:xfrm>
          <a:prstGeom prst="roundRect">
            <a:avLst/>
          </a:prstGeom>
          <a:solidFill>
            <a:srgbClr val="E7F7F4"/>
          </a:solidFill>
          <a:ln w="10160">
            <a:solidFill>
              <a:srgbClr val="A9E2D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70432" y="555040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E9F92"/>
                </a:solidFill>
              </a:rPr>
              <a:t>PM / Shared: semantics • guardrails • eval behavior • transition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6446520" y="5349240"/>
            <a:ext cx="4709160" cy="566928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AFCB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56832" y="555040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Engineering: production architecture • platform • reliability / observability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Evaluation, guardrails &amp; release readiness: AI quality was a product requirement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We used a golden eval dataset, explicit guardrails, acceptance criteria and human-review calibration to decide whether the workflow was ready to expand.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00400" cy="1298448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67512" y="165506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B82F6"/>
                </a:solidFill>
              </a:rPr>
              <a:t>Golden eval dataset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67512" y="205740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42526B"/>
                </a:solidFill>
              </a:rPr>
              <a:t>Representative questions + expected schema / SQL / answer ground truth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4041648" y="1417320"/>
            <a:ext cx="3200400" cy="1298448"/>
          </a:xfrm>
          <a:prstGeom prst="roundRect">
            <a:avLst/>
          </a:prstGeom>
          <a:solidFill>
            <a:srgbClr val="F1ECFF"/>
          </a:solidFill>
          <a:ln w="1016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206240" y="165506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7C3AED"/>
                </a:solidFill>
              </a:rPr>
              <a:t>Intent correctness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206240" y="205740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42526B"/>
                </a:solidFill>
              </a:rPr>
              <a:t>Did the workflow understand what the user actually wanted?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7580376" y="1417320"/>
            <a:ext cx="3200400" cy="1298448"/>
          </a:xfrm>
          <a:prstGeom prst="roundRect">
            <a:avLst/>
          </a:prstGeom>
          <a:solidFill>
            <a:srgbClr val="FFF4D8"/>
          </a:solidFill>
          <a:ln w="10160">
            <a:solidFill>
              <a:srgbClr val="B66A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44968" y="165506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B66A00"/>
                </a:solidFill>
              </a:rPr>
              <a:t>Ambiguity handling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744968" y="205740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42526B"/>
                </a:solidFill>
              </a:rPr>
              <a:t>Did it clarify underspecified questions instead of guessing?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3200400" cy="1298448"/>
          </a:xfrm>
          <a:prstGeom prst="roundRect">
            <a:avLst/>
          </a:prstGeom>
          <a:solidFill>
            <a:srgbClr val="E7F7F4"/>
          </a:solidFill>
          <a:ln w="10160">
            <a:solidFill>
              <a:srgbClr val="0E9F9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7512" y="348386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E9F92"/>
                </a:solidFill>
              </a:rPr>
              <a:t>SQL correctness &amp; execution guardrails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67512" y="388620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42526B"/>
                </a:solidFill>
              </a:rPr>
              <a:t>Executable, read-only, and aligned to the expected answer path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4041648" y="3246120"/>
            <a:ext cx="3200400" cy="1298448"/>
          </a:xfrm>
          <a:prstGeom prst="roundRect">
            <a:avLst/>
          </a:prstGeom>
          <a:solidFill>
            <a:srgbClr val="EAF7EF"/>
          </a:solidFill>
          <a:ln w="10160">
            <a:solidFill>
              <a:srgbClr val="168B4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06240" y="348386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68B4D"/>
                </a:solidFill>
              </a:rPr>
              <a:t>SQL → text correctness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206240" y="388620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42526B"/>
                </a:solidFill>
              </a:rPr>
              <a:t>Did the final response faithfully reflect the query result?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580376" y="3246120"/>
            <a:ext cx="3200400" cy="1298448"/>
          </a:xfrm>
          <a:prstGeom prst="roundRect">
            <a:avLst/>
          </a:prstGeom>
          <a:solidFill>
            <a:srgbClr val="FDECEC"/>
          </a:solidFill>
          <a:ln w="10160">
            <a:solidFill>
              <a:srgbClr val="D92D2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44968" y="348386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D92D20"/>
                </a:solidFill>
              </a:rPr>
              <a:t>Retry / failure behavior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744968" y="3886200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42526B"/>
                </a:solidFill>
              </a:rPr>
              <a:t>Did known failures recover within bounded paths or stop safely?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822960" y="5166360"/>
            <a:ext cx="10469880" cy="658368"/>
          </a:xfrm>
          <a:prstGeom prst="roundRect">
            <a:avLst/>
          </a:prstGeom>
          <a:solidFill>
            <a:srgbClr val="0B1324"/>
          </a:solidFill>
          <a:ln w="10160">
            <a:solidFill>
              <a:srgbClr val="0B132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51560" y="54041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AB7C7"/>
                </a:solidFill>
              </a:rPr>
              <a:t>Release gate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93392" y="5367528"/>
            <a:ext cx="8641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55D7C8"/>
                </a:solidFill>
              </a:rPr>
              <a:t>Acceptance criteria + calibrated human review + guardrail checks before broader rollout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 got the work done: product leadership + technical fluency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The role required translating between user problems, AI behavior and engineering constraints without relying on formal authority.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260604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691640"/>
            <a:ext cx="1325880" cy="256032"/>
          </a:xfrm>
          <a:prstGeom prst="roundRect">
            <a:avLst/>
          </a:prstGeom>
          <a:solidFill>
            <a:srgbClr val="E7F7F4"/>
          </a:solidFill>
          <a:ln w="12700">
            <a:solidFill>
              <a:srgbClr val="E7F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4193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E9F92"/>
                </a:solidFill>
              </a:rPr>
              <a:t>PRODUCT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704088" y="2267712"/>
            <a:ext cx="214884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Discovery &amp; problem framing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Scope / prioritization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Acceptance criteria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UAT, rollout &amp; metrics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3337560" y="1444752"/>
            <a:ext cx="260604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38728" y="1691640"/>
            <a:ext cx="1325880" cy="256032"/>
          </a:xfrm>
          <a:prstGeom prst="roundRect">
            <a:avLst/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74193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7C3AED"/>
                </a:solidFill>
              </a:rPr>
              <a:t>AI PRODUCT</a:t>
            </a:r>
            <a:endParaRPr lang="en-US" sz="660" dirty="0"/>
          </a:p>
        </p:txBody>
      </p:sp>
      <p:sp>
        <p:nvSpPr>
          <p:cNvPr id="11" name="Text 9"/>
          <p:cNvSpPr/>
          <p:nvPr/>
        </p:nvSpPr>
        <p:spPr>
          <a:xfrm>
            <a:off x="3538728" y="2267712"/>
            <a:ext cx="214884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Intent / ambiguity design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Guardrails &amp; safety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Golden eval dataset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Failure / retry behavior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6172200" y="1444752"/>
            <a:ext cx="260604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3368" y="1691640"/>
            <a:ext cx="1325880" cy="2560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74193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3B82F6"/>
                </a:solidFill>
              </a:rPr>
              <a:t>TECHNICAL FLUENCY</a:t>
            </a:r>
            <a:endParaRPr lang="en-US" sz="660" dirty="0"/>
          </a:p>
        </p:txBody>
      </p:sp>
      <p:sp>
        <p:nvSpPr>
          <p:cNvPr id="15" name="Text 13"/>
          <p:cNvSpPr/>
          <p:nvPr/>
        </p:nvSpPr>
        <p:spPr>
          <a:xfrm>
            <a:off x="6373368" y="2267712"/>
            <a:ext cx="214884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SQL / Python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RAG + LangGraph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Snowflake / schemas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AI failure analysis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9006840" y="1444752"/>
            <a:ext cx="260604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08008" y="1691640"/>
            <a:ext cx="1325880" cy="256032"/>
          </a:xfrm>
          <a:prstGeom prst="roundRect">
            <a:avLst/>
          </a:prstGeom>
          <a:solidFill>
            <a:srgbClr val="FFF4D8"/>
          </a:solidFill>
          <a:ln w="12700">
            <a:solidFill>
              <a:srgbClr val="FFF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81160" y="1741932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B66A00"/>
                </a:solidFill>
              </a:rPr>
              <a:t>INTERPERSONAL</a:t>
            </a:r>
            <a:endParaRPr lang="en-US" sz="660" dirty="0"/>
          </a:p>
        </p:txBody>
      </p:sp>
      <p:sp>
        <p:nvSpPr>
          <p:cNvPr id="19" name="Text 17"/>
          <p:cNvSpPr/>
          <p:nvPr/>
        </p:nvSpPr>
        <p:spPr>
          <a:xfrm>
            <a:off x="9208008" y="2267712"/>
            <a:ext cx="2148840" cy="2560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User / stakeholder discovery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Engineering partnership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Influence without authority</a:t>
            </a:r>
            <a:endParaRPr lang="en-US" sz="920" dirty="0"/>
          </a:p>
          <a:p>
            <a:pPr marL="152400" indent="-152400">
              <a:buSzPct val="100000"/>
              <a:buChar char="•"/>
            </a:pPr>
            <a:r>
              <a:rPr lang="en-US" sz="920" dirty="0">
                <a:solidFill>
                  <a:srgbClr val="42526B"/>
                </a:solidFill>
              </a:rPr>
              <a:t>Clear ownership boundaries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68680" y="596188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9F92"/>
                </a:solidFill>
              </a:rPr>
              <a:t>Operating principle: be firm on the problem, outcome and acceptance bar; be flexible on implementation.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and impact: the product changed the operating model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Within ~3 months, routine questions moved away from analyst queues and into self-service.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2461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2704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9F92"/>
                </a:solidFill>
              </a:rPr>
              <a:t>100+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856232"/>
            <a:ext cx="2953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internal users used the product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4160520" y="1417320"/>
            <a:ext cx="32461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6824" y="152704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</a:rPr>
              <a:t>~20%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06824" y="1856232"/>
            <a:ext cx="2953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reduction in ad-hoc analytics tickets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754112" y="1417320"/>
            <a:ext cx="324612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0416" y="1527048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66A00"/>
                </a:solidFill>
              </a:rPr>
              <a:t>~3 mo.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00416" y="1856232"/>
            <a:ext cx="2953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67085"/>
                </a:solidFill>
              </a:rPr>
              <a:t>from launch to measured impact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585216" y="26334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728"/>
                </a:solidFill>
              </a:rPr>
              <a:t>What changed operationally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2724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51560" y="3090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D1728"/>
                </a:solidFill>
              </a:rPr>
              <a:t>Business users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3063240" y="309067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26B"/>
                </a:solidFill>
              </a:rPr>
              <a:t>Faster answers for routine questions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292608" cy="292608"/>
          </a:xfrm>
          <a:prstGeom prst="ellipse">
            <a:avLst/>
          </a:prstGeom>
          <a:solidFill>
            <a:srgbClr val="0E9F92"/>
          </a:solidFill>
          <a:ln w="12700">
            <a:solidFill>
              <a:srgbClr val="0E9F9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5876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51560" y="38221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D1728"/>
                </a:solidFill>
              </a:rPr>
              <a:t>Analysts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3063240" y="382219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26B"/>
                </a:solidFill>
              </a:rPr>
              <a:t>Less repeated query execution; more time for higher-value analysis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292608" cy="292608"/>
          </a:xfrm>
          <a:prstGeom prst="ellipse">
            <a:avLst/>
          </a:prstGeom>
          <a:solidFill>
            <a:srgbClr val="B66A00"/>
          </a:solidFill>
          <a:ln w="12700">
            <a:solidFill>
              <a:srgbClr val="B66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90288"/>
            <a:ext cx="2926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51560" y="45537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0D1728"/>
                </a:solidFill>
              </a:rPr>
              <a:t>Product / Engineering</a:t>
            </a:r>
            <a:endParaRPr lang="en-US" sz="970" dirty="0"/>
          </a:p>
        </p:txBody>
      </p:sp>
      <p:sp>
        <p:nvSpPr>
          <p:cNvPr id="25" name="Text 23"/>
          <p:cNvSpPr/>
          <p:nvPr/>
        </p:nvSpPr>
        <p:spPr>
          <a:xfrm>
            <a:off x="3063240" y="455371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2526B"/>
                </a:solidFill>
              </a:rPr>
              <a:t>Reusable foundation for conversational analytics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955280" y="3063240"/>
            <a:ext cx="3291840" cy="1993392"/>
          </a:xfrm>
          <a:prstGeom prst="roundRect">
            <a:avLst/>
          </a:prstGeom>
          <a:solidFill>
            <a:srgbClr val="0B1324"/>
          </a:solidFill>
          <a:ln w="10160">
            <a:solidFill>
              <a:srgbClr val="0B13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83880" y="335584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The metric that mattered most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83880" y="382219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D2DAE5"/>
                </a:solidFill>
              </a:rPr>
              <a:t>Not “number of chats.”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8183880" y="4206240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D5C5"/>
                </a:solidFill>
              </a:rPr>
              <a:t>Did the product actually remove repetitive work from the analyst queue?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347472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project taught me about AI product management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56616" y="832104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The technical system mattered — but the product decisions around workflow, evaluation, trust and adoption mattered more.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3246120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37360"/>
            <a:ext cx="438912" cy="2560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8765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82F6"/>
                </a:solidFill>
              </a:rPr>
              <a:t>01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768096" y="21762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Start with workflow,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not 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3063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2526B"/>
                </a:solidFill>
              </a:rPr>
              <a:t>The opportunity came from repeated analyst work, not from looking for a place to use an LLM.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096512" y="1481328"/>
            <a:ext cx="3246120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737360"/>
            <a:ext cx="438912" cy="256032"/>
          </a:xfrm>
          <a:prstGeom prst="roundRect">
            <a:avLst/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78765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7C3AED"/>
                </a:solidFill>
              </a:rPr>
              <a:t>02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297680" y="21762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Evaluation is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product 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063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2526B"/>
                </a:solidFill>
              </a:rPr>
              <a:t>Intent, ambiguity, SQL correctness, response fidelity and failure behavior all needed explicit acceptance criteria.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626096" y="1481328"/>
            <a:ext cx="3246120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27264" y="1737360"/>
            <a:ext cx="438912" cy="256032"/>
          </a:xfrm>
          <a:prstGeom prst="roundRect">
            <a:avLst/>
          </a:prstGeom>
          <a:solidFill>
            <a:srgbClr val="FFF4D8"/>
          </a:solidFill>
          <a:ln w="12700">
            <a:solidFill>
              <a:srgbClr val="FFF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0416" y="178765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66A00"/>
                </a:solidFill>
              </a:rPr>
              <a:t>03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7827264" y="21762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Trust drives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D1728"/>
                </a:solidFill>
              </a:rPr>
              <a:t>adoption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27264" y="306324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42526B"/>
                </a:solidFill>
              </a:rPr>
              <a:t>Guardrails, safe failure paths and clear boundaries made users comfortable relying on the product.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85800" y="5102352"/>
            <a:ext cx="1074420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3309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850" b="1">
                <a:solidFill>
                  <a:srgbClr val="667085"/>
                </a:solidFill>
                <a:latin typeface="Aptos"/>
              </a:rPr>
              <a:t>What I'd do differently</a:t>
            </a:r>
          </a:p>
        </p:txBody>
      </p:sp>
      <p:sp>
        <p:nvSpPr>
          <p:cNvPr id="21" name="Text 19"/>
          <p:cNvSpPr/>
          <p:nvPr/>
        </p:nvSpPr>
        <p:spPr>
          <a:xfrm>
            <a:off x="2240280" y="5202936"/>
            <a:ext cx="39776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sz="930" b="1">
                <a:solidFill>
                  <a:srgbClr val="0E9F92"/>
                </a:solidFill>
                <a:latin typeface="Aptos"/>
              </a:rPr>
              <a:t>Instrument the product journey earlier</a:t>
            </a:r>
            <a:endParaRPr lang="en-US" sz="97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2526B"/>
                </a:solidFill>
                <a:latin typeface="Aptos"/>
              </a:rPr>
              <a:t>Separate AI-quality failures from UX / adoption friction.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8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6446520" y="5202936"/>
            <a:ext cx="4526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0"/>
              </a:spcAft>
            </a:pPr>
            <a:r>
              <a:rPr sz="930" b="1">
                <a:solidFill>
                  <a:srgbClr val="0E9F92"/>
                </a:solidFill>
                <a:latin typeface="Aptos"/>
              </a:rPr>
              <a:t>Define explicit expansion gates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819">
                <a:solidFill>
                  <a:srgbClr val="42526B"/>
                </a:solidFill>
                <a:latin typeface="Aptos"/>
              </a:rPr>
              <a:t>Use quality, usage and trust thresholds before broadening workflows or autonomy.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6B3A7"/>
          </a:solidFill>
          <a:ln w="12700">
            <a:solidFill>
              <a:srgbClr val="16B3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9768" y="438912"/>
            <a:ext cx="2240280" cy="256032"/>
          </a:xfrm>
          <a:prstGeom prst="roundRect">
            <a:avLst/>
          </a:prstGeom>
          <a:solidFill>
            <a:srgbClr val="0B3D43"/>
          </a:solidFill>
          <a:ln w="12700">
            <a:solidFill>
              <a:srgbClr val="0B3D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9204"/>
            <a:ext cx="2093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8EE1D9"/>
                </a:solidFill>
              </a:rPr>
              <a:t>AI PRODUCT MANAGER • RECENT ROLE DEEP DIVE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75488" y="2761488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800">
                <a:solidFill>
                  <a:srgbClr val="55D7C8"/>
                </a:solidFill>
              </a:rPr>
              <a:t>Questions or follow-up?</a:t>
            </a:r>
          </a:p>
        </p:txBody>
      </p:sp>
      <p:sp>
        <p:nvSpPr>
          <p:cNvPr id="7" name="Text 5"/>
          <p:cNvSpPr/>
          <p:nvPr/>
        </p:nvSpPr>
        <p:spPr>
          <a:xfrm>
            <a:off x="475488" y="5230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D8E3"/>
                </a:solidFill>
              </a:rPr>
              <a:t>Nitish Ranjan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55504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>
                <a:solidFill>
                  <a:srgbClr val="9EACBC"/>
                </a:solidFill>
                <a:hlinkClick r:id="rId4"/>
              </a:rPr>
              <a:t>ranjannitish30@gmail.com</a:t>
            </a:r>
            <a:r>
              <a:rPr sz="1100">
                <a:solidFill>
                  <a:srgbClr val="9EACBC"/>
                </a:solidFill>
              </a:rPr>
              <a:t>  •  +91-9911651252</a:t>
            </a:r>
          </a:p>
        </p:txBody>
      </p:sp>
      <p:sp>
        <p:nvSpPr>
          <p:cNvPr id="9" name="Shape 7"/>
          <p:cNvSpPr/>
          <p:nvPr/>
        </p:nvSpPr>
        <p:spPr>
          <a:xfrm rot="720000">
            <a:off x="9692640" y="548640"/>
            <a:ext cx="2468880" cy="2377440"/>
          </a:xfrm>
          <a:prstGeom prst="chevron">
            <a:avLst/>
          </a:prstGeom>
          <a:solidFill>
            <a:srgbClr val="12374A">
              <a:alpha val="92000"/>
            </a:srgbClr>
          </a:solidFill>
          <a:ln w="12700">
            <a:solidFill>
              <a:srgbClr val="12374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360000">
            <a:off x="9966960" y="2880360"/>
            <a:ext cx="2331720" cy="2286000"/>
          </a:xfrm>
          <a:prstGeom prst="chevron">
            <a:avLst/>
          </a:prstGeom>
          <a:solidFill>
            <a:srgbClr val="0E4B4A">
              <a:alpha val="92000"/>
            </a:srgbClr>
          </a:solidFill>
          <a:ln w="12700">
            <a:solidFill>
              <a:srgbClr val="0E4B4A">
                <a:alpha val="0"/>
              </a:srgbClr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475488" y="3154680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CFD8E3"/>
                </a:solidFill>
                <a:latin typeface="Aptos"/>
              </a:rPr>
              <a:t>Please feel free to reach out if you have any questions.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5696712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D7C8"/>
                </a:solidFill>
                <a:latin typeface="Aptos"/>
                <a:hlinkClick r:id="rId3"/>
              </a:rPr>
              <a:t>linkedin.com/in/ranjan-nitish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AiDash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analyst bottleneck to self-service analytics</dc:title>
  <dc:subject>AI Product Manager - Recent Role Deep Dive</dc:subject>
  <dc:creator>Nitish Ranjan</dc:creator>
  <cp:lastModifiedBy>Nitish Ranjan</cp:lastModifiedBy>
  <cp:revision>1</cp:revision>
  <dcterms:created xsi:type="dcterms:W3CDTF">2026-10-05T13:21:37Z</dcterms:created>
  <dcterms:modified xsi:type="dcterms:W3CDTF">2026-10-05T13:21:37Z</dcterms:modified>
</cp:coreProperties>
</file>